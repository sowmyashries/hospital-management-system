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98" r:id="rId2"/>
    <p:sldId id="257" r:id="rId3"/>
    <p:sldId id="259" r:id="rId4"/>
    <p:sldId id="258" r:id="rId5"/>
    <p:sldId id="260" r:id="rId6"/>
    <p:sldId id="262" r:id="rId7"/>
    <p:sldId id="267" r:id="rId8"/>
    <p:sldId id="263" r:id="rId9"/>
    <p:sldId id="261" r:id="rId10"/>
    <p:sldId id="265" r:id="rId11"/>
    <p:sldId id="266" r:id="rId12"/>
    <p:sldId id="268" r:id="rId13"/>
    <p:sldId id="270" r:id="rId14"/>
    <p:sldId id="272" r:id="rId15"/>
    <p:sldId id="274" r:id="rId16"/>
    <p:sldId id="277" r:id="rId17"/>
    <p:sldId id="279" r:id="rId18"/>
    <p:sldId id="282" r:id="rId19"/>
    <p:sldId id="281" r:id="rId20"/>
    <p:sldId id="290" r:id="rId21"/>
    <p:sldId id="285" r:id="rId22"/>
    <p:sldId id="287" r:id="rId23"/>
    <p:sldId id="288" r:id="rId24"/>
    <p:sldId id="296" r:id="rId25"/>
    <p:sldId id="264" r:id="rId26"/>
    <p:sldId id="29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C4C4"/>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2F39A3-FCE8-4118-80F3-4C8033EEBDD6}" type="datetimeFigureOut">
              <a:rPr lang="en-IN" smtClean="0"/>
              <a:t>02-07-2026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28368F-4C66-489A-8FC8-95A7E397D881}" type="slidenum">
              <a:rPr lang="en-IN" smtClean="0"/>
              <a:t>‹#›</a:t>
            </a:fld>
            <a:endParaRPr lang="en-IN"/>
          </a:p>
        </p:txBody>
      </p:sp>
    </p:spTree>
    <p:extLst>
      <p:ext uri="{BB962C8B-B14F-4D97-AF65-F5344CB8AC3E}">
        <p14:creationId xmlns:p14="http://schemas.microsoft.com/office/powerpoint/2010/main" val="838042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2B2F7-C2EB-E0E0-3FD2-E54D7295B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92596-AD2E-9A7A-886A-7213C2D0A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09DC9-566D-803E-5512-2BE629225B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63219B-93C4-895D-72B3-2CE70D9ACA8D}"/>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80832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C3985-7BA9-C70B-3265-36116129E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EDC68-DD2F-18FE-3D44-395B14D11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A6E075-A456-4708-37FE-7FC463292A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4489AF-1FDA-4D77-5341-4B716B0BF72A}"/>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903305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E520-9105-8D35-815F-1D7A0E91E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BAE1E-6608-93BA-CE75-435A63297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41D4D9-FC5C-7D07-E462-E4092CE888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C9ADE7-303E-0293-6FD7-4C093E9E1F4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230702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E2812-0C45-0D7C-0290-E6859579F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2AE53-D67D-2C85-2470-1175C1C03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B208B-AA23-E9E5-F52B-14010B3B1F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B00D21-3A73-FE36-9ABF-99D03446A12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421290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9634E-F9AE-EB09-C4C2-F739FC55B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402DB-63F3-75F4-473D-0FFBB80FB3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2481B-2A40-6FD6-B073-881F07790D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98D3EC-2848-44BC-9002-C6FAB7FDDBF0}"/>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894748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9F791-6845-8484-33E7-1FF4E31A1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F5D2D-3977-F42C-7BB1-6FEB6241B2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93077F-EDDA-430D-676F-A49CF4D24E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44B6C6-A759-D6A2-AE61-2318648CF62C}"/>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67938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2367A-FABF-0822-E9E0-69DEF733E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8A947-7E60-66FC-52BC-4FC0256165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8386DF-5322-A986-86E7-05CEC42CDB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D2D359-ADDF-EA5D-4B3F-2384BF0767A9}"/>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97157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F25E5-DEF1-5AE1-82DB-0F496429FD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48E3B2-B6DB-5E22-29D3-D863198D9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01BBA87-8BE7-8096-6E97-F18DD7CEA48E}"/>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5" name="Footer Placeholder 4">
            <a:extLst>
              <a:ext uri="{FF2B5EF4-FFF2-40B4-BE49-F238E27FC236}">
                <a16:creationId xmlns:a16="http://schemas.microsoft.com/office/drawing/2014/main" id="{587FD144-5B08-2E0B-C5BE-5CF2C62E71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429A51-DBEC-6888-9100-BC5F67A71B5C}"/>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2059608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21B1-5901-9D8B-8C1B-C0D0DB1A34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AAAAD6-4701-7F44-1B20-2061BB526A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B10546-8796-56AC-3FB6-1B35F6628A12}"/>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5" name="Footer Placeholder 4">
            <a:extLst>
              <a:ext uri="{FF2B5EF4-FFF2-40B4-BE49-F238E27FC236}">
                <a16:creationId xmlns:a16="http://schemas.microsoft.com/office/drawing/2014/main" id="{232AB8BE-5BF5-C2C4-588F-80F30C9FDA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AB9DAF-111A-2B92-75AB-E321D1D33E41}"/>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1964066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DE82-C66A-6991-0D3C-C5BCD9F0D9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BA79A2-66B6-B8BE-15E6-F3E87C8375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A6453A-F1CE-E5C3-5EA5-7818FD5F7CBE}"/>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5" name="Footer Placeholder 4">
            <a:extLst>
              <a:ext uri="{FF2B5EF4-FFF2-40B4-BE49-F238E27FC236}">
                <a16:creationId xmlns:a16="http://schemas.microsoft.com/office/drawing/2014/main" id="{3F656917-C037-721C-B512-2DC158DC68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5A9E22-C96C-BE43-C214-B7080E3DC550}"/>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2981679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E20FC-A337-2D9F-D01A-93C330952B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43E528-3686-C1F3-2C68-B21878EAAE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316FE6-D076-DEC6-241F-0CC67ADEA6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AB126A-F05C-493A-7795-A57F97CACAD5}"/>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6" name="Footer Placeholder 5">
            <a:extLst>
              <a:ext uri="{FF2B5EF4-FFF2-40B4-BE49-F238E27FC236}">
                <a16:creationId xmlns:a16="http://schemas.microsoft.com/office/drawing/2014/main" id="{4AD96AD9-CE03-FC76-0AF3-46BE40AB35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1D7BB1-1476-F176-B214-9F5656ABFF0F}"/>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3322851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4951F-D2DD-18A1-BF22-4C701CD8390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EF410C-367D-76AB-B2D9-1D1E91BF5D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844962-2C94-CA51-BD29-B7BFBA8F12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28E6E1-CCDB-F9EF-79CF-2AFCBAB50B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AF4E01-AF07-64AF-23B8-6A2550AAF9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A70BDA-F0C8-6B93-7223-29D04AB9F5F2}"/>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8" name="Footer Placeholder 7">
            <a:extLst>
              <a:ext uri="{FF2B5EF4-FFF2-40B4-BE49-F238E27FC236}">
                <a16:creationId xmlns:a16="http://schemas.microsoft.com/office/drawing/2014/main" id="{4B4E1F78-D6DD-00EB-9F2B-C2E4D360F1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9E6D4F-6154-BBD3-9014-D7BCE63F5302}"/>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2606751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B846-023E-9DDC-E1FB-9AB8A1B01EE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A92442-6F46-9191-21B1-0012AB10CF60}"/>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4" name="Footer Placeholder 3">
            <a:extLst>
              <a:ext uri="{FF2B5EF4-FFF2-40B4-BE49-F238E27FC236}">
                <a16:creationId xmlns:a16="http://schemas.microsoft.com/office/drawing/2014/main" id="{9B4EDBF2-3F9C-85F2-5937-A12D71A6DDE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1CC4364-E064-8417-2234-ACEF7F06A2DD}"/>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3791566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CD2BB1-36EC-DC48-82B6-72B3A3A50758}"/>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3" name="Footer Placeholder 2">
            <a:extLst>
              <a:ext uri="{FF2B5EF4-FFF2-40B4-BE49-F238E27FC236}">
                <a16:creationId xmlns:a16="http://schemas.microsoft.com/office/drawing/2014/main" id="{6CB0CF30-E51E-1CD0-0D2E-011C68C88B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49DA9B4-000C-4890-7F30-4C379AA37B25}"/>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3410926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D6F2C-E782-A999-650A-C614D76B5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B5D93DB-CE50-DB84-1786-3A9BAC9D0F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AD4FA6-B330-756F-BCAE-C2B53487C5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8D1EA4-0FBB-5C3A-D732-A2479E1F6EF0}"/>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6" name="Footer Placeholder 5">
            <a:extLst>
              <a:ext uri="{FF2B5EF4-FFF2-40B4-BE49-F238E27FC236}">
                <a16:creationId xmlns:a16="http://schemas.microsoft.com/office/drawing/2014/main" id="{4A6339D5-C203-1229-A533-06F54AD206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9113BD-F620-F08D-AC76-EAF8E955C29D}"/>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1505727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068AC-85A5-945F-A8ED-39E5A56372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5F9FC67-6335-981E-A099-4C1EB0FD78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17963D-F781-01DB-11CD-B90D297E12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C59C81-5105-E146-EA58-D6838F3A2797}"/>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6" name="Footer Placeholder 5">
            <a:extLst>
              <a:ext uri="{FF2B5EF4-FFF2-40B4-BE49-F238E27FC236}">
                <a16:creationId xmlns:a16="http://schemas.microsoft.com/office/drawing/2014/main" id="{5FEF6CC5-DFC1-1C0E-221F-D65A4EAD58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B8CB53-3581-3D39-AADB-949DC1FAD668}"/>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4142529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0D359-A097-D0FD-2650-40120BF79A4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E7BC5E-A02E-9D6F-FE5A-786E679FCF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B2B369-7C6C-3802-4DF0-48FE013717B1}"/>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5" name="Footer Placeholder 4">
            <a:extLst>
              <a:ext uri="{FF2B5EF4-FFF2-40B4-BE49-F238E27FC236}">
                <a16:creationId xmlns:a16="http://schemas.microsoft.com/office/drawing/2014/main" id="{9E397826-A78B-B550-A41F-E77DF92569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684015-D4B8-1BCF-7CFF-C78BB4FB53FF}"/>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140769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0CF4F4-275C-70AF-82CA-69F6AE7AB9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C6B72E-133D-98A2-81BC-C643832A0A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06C527-9536-7EBB-948E-2520530A787F}"/>
              </a:ext>
            </a:extLst>
          </p:cNvPr>
          <p:cNvSpPr>
            <a:spLocks noGrp="1"/>
          </p:cNvSpPr>
          <p:nvPr>
            <p:ph type="dt" sz="half" idx="10"/>
          </p:nvPr>
        </p:nvSpPr>
        <p:spPr/>
        <p:txBody>
          <a:bodyPr/>
          <a:lstStyle/>
          <a:p>
            <a:fld id="{2AA03EFA-3911-402A-A3BD-CC02D926572D}" type="datetimeFigureOut">
              <a:rPr lang="en-IN" smtClean="0"/>
              <a:t>02-07-2026</a:t>
            </a:fld>
            <a:endParaRPr lang="en-IN"/>
          </a:p>
        </p:txBody>
      </p:sp>
      <p:sp>
        <p:nvSpPr>
          <p:cNvPr id="5" name="Footer Placeholder 4">
            <a:extLst>
              <a:ext uri="{FF2B5EF4-FFF2-40B4-BE49-F238E27FC236}">
                <a16:creationId xmlns:a16="http://schemas.microsoft.com/office/drawing/2014/main" id="{801C6B5A-E594-A657-B76A-FDD5377669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DCE356-9472-156C-F2A4-7CB495CE917F}"/>
              </a:ext>
            </a:extLst>
          </p:cNvPr>
          <p:cNvSpPr>
            <a:spLocks noGrp="1"/>
          </p:cNvSpPr>
          <p:nvPr>
            <p:ph type="sldNum" sz="quarter" idx="12"/>
          </p:nvPr>
        </p:nvSpPr>
        <p:spPr/>
        <p:txBody>
          <a:bodyPr/>
          <a:lstStyle/>
          <a:p>
            <a:fld id="{857CC11D-FC37-44AD-87F1-10FE025DD6B2}" type="slidenum">
              <a:rPr lang="en-IN" smtClean="0"/>
              <a:t>‹#›</a:t>
            </a:fld>
            <a:endParaRPr lang="en-IN"/>
          </a:p>
        </p:txBody>
      </p:sp>
    </p:spTree>
    <p:extLst>
      <p:ext uri="{BB962C8B-B14F-4D97-AF65-F5344CB8AC3E}">
        <p14:creationId xmlns:p14="http://schemas.microsoft.com/office/powerpoint/2010/main" val="33985521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9774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E93DC5-6497-4F5A-659D-799CE5D68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7D3EF8-A823-C8CB-952B-DFD97E63AA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6FC94E-7EF9-DA44-9650-CC45792C13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A03EFA-3911-402A-A3BD-CC02D926572D}" type="datetimeFigureOut">
              <a:rPr lang="en-IN" smtClean="0"/>
              <a:t>02-07-2026</a:t>
            </a:fld>
            <a:endParaRPr lang="en-IN"/>
          </a:p>
        </p:txBody>
      </p:sp>
      <p:sp>
        <p:nvSpPr>
          <p:cNvPr id="5" name="Footer Placeholder 4">
            <a:extLst>
              <a:ext uri="{FF2B5EF4-FFF2-40B4-BE49-F238E27FC236}">
                <a16:creationId xmlns:a16="http://schemas.microsoft.com/office/drawing/2014/main" id="{6B8DC939-24A7-1E0D-011A-5F0F1387B6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9A28014-496B-F50D-F224-71DC40CBDB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7CC11D-FC37-44AD-87F1-10FE025DD6B2}" type="slidenum">
              <a:rPr lang="en-IN" smtClean="0"/>
              <a:t>‹#›</a:t>
            </a:fld>
            <a:endParaRPr lang="en-IN"/>
          </a:p>
        </p:txBody>
      </p:sp>
    </p:spTree>
    <p:extLst>
      <p:ext uri="{BB962C8B-B14F-4D97-AF65-F5344CB8AC3E}">
        <p14:creationId xmlns:p14="http://schemas.microsoft.com/office/powerpoint/2010/main" val="2891041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18714-184C-EB57-0520-FBEEA25D5025}"/>
              </a:ext>
            </a:extLst>
          </p:cNvPr>
          <p:cNvSpPr>
            <a:spLocks noGrp="1"/>
          </p:cNvSpPr>
          <p:nvPr>
            <p:ph type="title"/>
          </p:nvPr>
        </p:nvSpPr>
        <p:spPr>
          <a:xfrm>
            <a:off x="3550920" y="2766218"/>
            <a:ext cx="10515600" cy="1325563"/>
          </a:xfrm>
        </p:spPr>
        <p:txBody>
          <a:bodyPr>
            <a:normAutofit/>
          </a:bodyPr>
          <a:lstStyle/>
          <a:p>
            <a:r>
              <a:rPr lang="en-US" sz="7200" dirty="0">
                <a:solidFill>
                  <a:srgbClr val="FFC000"/>
                </a:solidFill>
                <a:latin typeface="Aparajita" panose="02020603050405020304" pitchFamily="18" charset="0"/>
                <a:cs typeface="Aparajita" panose="02020603050405020304" pitchFamily="18" charset="0"/>
              </a:rPr>
              <a:t>WELCOME</a:t>
            </a:r>
            <a:endParaRPr lang="en-IN" sz="7200" dirty="0">
              <a:solidFill>
                <a:srgbClr val="FFC000"/>
              </a:solidFill>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2404626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9CFF1-FB3E-11D4-84B8-19D6BA3A0A58}"/>
              </a:ext>
            </a:extLst>
          </p:cNvPr>
          <p:cNvSpPr>
            <a:spLocks noGrp="1"/>
          </p:cNvSpPr>
          <p:nvPr>
            <p:ph type="title"/>
          </p:nvPr>
        </p:nvSpPr>
        <p:spPr>
          <a:xfrm>
            <a:off x="956188" y="1162843"/>
            <a:ext cx="10515600" cy="1325563"/>
          </a:xfrm>
        </p:spPr>
        <p:txBody>
          <a:bodyPr>
            <a:normAutofit/>
          </a:bodyPr>
          <a:lstStyle/>
          <a:p>
            <a:br>
              <a:rPr lang="en-US" dirty="0">
                <a:solidFill>
                  <a:srgbClr val="FFC000"/>
                </a:solidFill>
              </a:rPr>
            </a:br>
            <a:endParaRPr lang="en-IN" dirty="0">
              <a:solidFill>
                <a:srgbClr val="FFC000"/>
              </a:solidFill>
            </a:endParaRPr>
          </a:p>
        </p:txBody>
      </p:sp>
      <p:sp>
        <p:nvSpPr>
          <p:cNvPr id="4" name="Shape 0">
            <a:extLst>
              <a:ext uri="{FF2B5EF4-FFF2-40B4-BE49-F238E27FC236}">
                <a16:creationId xmlns:a16="http://schemas.microsoft.com/office/drawing/2014/main" id="{D65C0739-CE74-947F-B9E1-E9A84BAC7B27}"/>
              </a:ext>
            </a:extLst>
          </p:cNvPr>
          <p:cNvSpPr/>
          <p:nvPr/>
        </p:nvSpPr>
        <p:spPr>
          <a:xfrm>
            <a:off x="1366684" y="518033"/>
            <a:ext cx="9144000" cy="73152"/>
          </a:xfrm>
          <a:prstGeom prst="rect">
            <a:avLst/>
          </a:prstGeom>
          <a:solidFill>
            <a:srgbClr val="C49A2A"/>
          </a:solidFill>
          <a:ln w="12700">
            <a:solidFill>
              <a:srgbClr val="C49A2A"/>
            </a:solidFill>
            <a:prstDash val="solid"/>
          </a:ln>
        </p:spPr>
        <p:txBody>
          <a:bodyPr/>
          <a:lstStyle/>
          <a:p>
            <a:endParaRPr lang="en-IN"/>
          </a:p>
        </p:txBody>
      </p:sp>
      <p:sp>
        <p:nvSpPr>
          <p:cNvPr id="5" name="Shape 1">
            <a:extLst>
              <a:ext uri="{FF2B5EF4-FFF2-40B4-BE49-F238E27FC236}">
                <a16:creationId xmlns:a16="http://schemas.microsoft.com/office/drawing/2014/main" id="{233F7CB8-4516-6244-A1E7-F277C2EB585A}"/>
              </a:ext>
            </a:extLst>
          </p:cNvPr>
          <p:cNvSpPr/>
          <p:nvPr/>
        </p:nvSpPr>
        <p:spPr>
          <a:xfrm>
            <a:off x="1524000" y="5927598"/>
            <a:ext cx="9144000" cy="73152"/>
          </a:xfrm>
          <a:prstGeom prst="rect">
            <a:avLst/>
          </a:prstGeom>
          <a:solidFill>
            <a:srgbClr val="C49A2A"/>
          </a:solidFill>
          <a:ln w="12700">
            <a:solidFill>
              <a:srgbClr val="C49A2A"/>
            </a:solidFill>
            <a:prstDash val="solid"/>
          </a:ln>
        </p:spPr>
        <p:txBody>
          <a:bodyPr/>
          <a:lstStyle/>
          <a:p>
            <a:endParaRPr lang="en-IN"/>
          </a:p>
        </p:txBody>
      </p:sp>
      <p:sp>
        <p:nvSpPr>
          <p:cNvPr id="8" name="Text 4">
            <a:extLst>
              <a:ext uri="{FF2B5EF4-FFF2-40B4-BE49-F238E27FC236}">
                <a16:creationId xmlns:a16="http://schemas.microsoft.com/office/drawing/2014/main" id="{444ACD3A-F790-1CFA-4A4D-0491CA089055}"/>
              </a:ext>
            </a:extLst>
          </p:cNvPr>
          <p:cNvSpPr/>
          <p:nvPr/>
        </p:nvSpPr>
        <p:spPr>
          <a:xfrm>
            <a:off x="1981200" y="1524817"/>
            <a:ext cx="8229600"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kern="0" spc="200" dirty="0">
                <a:solidFill>
                  <a:srgbClr val="FFC000"/>
                </a:solidFill>
                <a:latin typeface="Cambria" pitchFamily="34" charset="0"/>
                <a:ea typeface="Cambria" pitchFamily="34" charset="-122"/>
                <a:cs typeface="Cambria" pitchFamily="34" charset="-120"/>
              </a:rPr>
              <a:t>CADD MULTI-SPECIALITY HOSPITAL</a:t>
            </a:r>
            <a:endParaRPr lang="en-US" sz="3200" dirty="0">
              <a:solidFill>
                <a:srgbClr val="FFC000"/>
              </a:solidFill>
            </a:endParaRPr>
          </a:p>
        </p:txBody>
      </p:sp>
      <p:sp>
        <p:nvSpPr>
          <p:cNvPr id="9" name="Text 5">
            <a:extLst>
              <a:ext uri="{FF2B5EF4-FFF2-40B4-BE49-F238E27FC236}">
                <a16:creationId xmlns:a16="http://schemas.microsoft.com/office/drawing/2014/main" id="{0F795799-07B7-6ECC-8CDE-865B3B17D0E3}"/>
              </a:ext>
            </a:extLst>
          </p:cNvPr>
          <p:cNvSpPr/>
          <p:nvPr/>
        </p:nvSpPr>
        <p:spPr>
          <a:xfrm>
            <a:off x="1799303" y="2297918"/>
            <a:ext cx="82296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i="1" dirty="0">
                <a:solidFill>
                  <a:srgbClr val="C49A2A"/>
                </a:solidFill>
                <a:latin typeface="Calibri" pitchFamily="34" charset="0"/>
                <a:ea typeface="Calibri" pitchFamily="34" charset="-122"/>
                <a:cs typeface="Calibri" pitchFamily="34" charset="-120"/>
              </a:rPr>
              <a:t>Hospital Management System</a:t>
            </a:r>
            <a:endParaRPr lang="en-US" sz="2200" dirty="0"/>
          </a:p>
        </p:txBody>
      </p:sp>
      <p:sp>
        <p:nvSpPr>
          <p:cNvPr id="10" name="Shape 6">
            <a:extLst>
              <a:ext uri="{FF2B5EF4-FFF2-40B4-BE49-F238E27FC236}">
                <a16:creationId xmlns:a16="http://schemas.microsoft.com/office/drawing/2014/main" id="{7C3B51D5-1C06-645A-962E-07EC844D9122}"/>
              </a:ext>
            </a:extLst>
          </p:cNvPr>
          <p:cNvSpPr/>
          <p:nvPr/>
        </p:nvSpPr>
        <p:spPr>
          <a:xfrm>
            <a:off x="3800413" y="2822161"/>
            <a:ext cx="4173548" cy="45719"/>
          </a:xfrm>
          <a:prstGeom prst="rect">
            <a:avLst/>
          </a:prstGeom>
          <a:solidFill>
            <a:srgbClr val="C49A2A"/>
          </a:solidFill>
          <a:ln w="12700">
            <a:solidFill>
              <a:srgbClr val="C49A2A"/>
            </a:solidFill>
            <a:prstDash val="solid"/>
          </a:ln>
        </p:spPr>
        <p:txBody>
          <a:bodyPr/>
          <a:lstStyle/>
          <a:p>
            <a:endParaRPr lang="en-IN"/>
          </a:p>
        </p:txBody>
      </p:sp>
      <p:sp>
        <p:nvSpPr>
          <p:cNvPr id="11" name="Text 7">
            <a:extLst>
              <a:ext uri="{FF2B5EF4-FFF2-40B4-BE49-F238E27FC236}">
                <a16:creationId xmlns:a16="http://schemas.microsoft.com/office/drawing/2014/main" id="{F9601A03-198F-D499-CF34-010E89F352D1}"/>
              </a:ext>
            </a:extLst>
          </p:cNvPr>
          <p:cNvSpPr/>
          <p:nvPr/>
        </p:nvSpPr>
        <p:spPr>
          <a:xfrm>
            <a:off x="1873168" y="2933859"/>
            <a:ext cx="822960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chemeClr val="accent1"/>
                </a:solidFill>
                <a:latin typeface="Calibri" pitchFamily="34" charset="0"/>
                <a:ea typeface="Calibri" pitchFamily="34" charset="-122"/>
                <a:cs typeface="Calibri" pitchFamily="34" charset="-120"/>
              </a:rPr>
              <a:t>A C-Language Based Management Information System</a:t>
            </a:r>
            <a:endParaRPr lang="en-US" sz="1400" dirty="0">
              <a:solidFill>
                <a:schemeClr val="accent1"/>
              </a:solidFill>
            </a:endParaRPr>
          </a:p>
        </p:txBody>
      </p:sp>
      <p:sp>
        <p:nvSpPr>
          <p:cNvPr id="12" name="Shape 8">
            <a:extLst>
              <a:ext uri="{FF2B5EF4-FFF2-40B4-BE49-F238E27FC236}">
                <a16:creationId xmlns:a16="http://schemas.microsoft.com/office/drawing/2014/main" id="{3469F9BA-3DAA-5991-722E-4FFA3BAB2DE1}"/>
              </a:ext>
            </a:extLst>
          </p:cNvPr>
          <p:cNvSpPr/>
          <p:nvPr/>
        </p:nvSpPr>
        <p:spPr>
          <a:xfrm>
            <a:off x="1674925" y="4245103"/>
            <a:ext cx="1828800" cy="502920"/>
          </a:xfrm>
          <a:prstGeom prst="roundRect">
            <a:avLst>
              <a:gd name="adj" fmla="val 9091"/>
            </a:avLst>
          </a:prstGeom>
          <a:solidFill>
            <a:srgbClr val="1A6B8A"/>
          </a:solidFill>
          <a:ln w="12700">
            <a:solidFill>
              <a:srgbClr val="1A6B8A"/>
            </a:solidFill>
            <a:prstDash val="solid"/>
          </a:ln>
        </p:spPr>
        <p:txBody>
          <a:bodyPr/>
          <a:lstStyle/>
          <a:p>
            <a:endParaRPr lang="en-IN"/>
          </a:p>
        </p:txBody>
      </p:sp>
      <p:sp>
        <p:nvSpPr>
          <p:cNvPr id="13" name="Text 9">
            <a:extLst>
              <a:ext uri="{FF2B5EF4-FFF2-40B4-BE49-F238E27FC236}">
                <a16:creationId xmlns:a16="http://schemas.microsoft.com/office/drawing/2014/main" id="{70AEC7D4-CE8A-4CC9-1237-9F8A4E5DEE16}"/>
              </a:ext>
            </a:extLst>
          </p:cNvPr>
          <p:cNvSpPr/>
          <p:nvPr/>
        </p:nvSpPr>
        <p:spPr>
          <a:xfrm>
            <a:off x="1599463" y="4217670"/>
            <a:ext cx="18288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FFFFFF"/>
                </a:solidFill>
                <a:latin typeface="Calibri" pitchFamily="34" charset="0"/>
                <a:ea typeface="Calibri" pitchFamily="34" charset="-122"/>
                <a:cs typeface="Calibri" pitchFamily="34" charset="-120"/>
              </a:rPr>
              <a:t>Patient</a:t>
            </a:r>
            <a:endParaRPr lang="en-US" sz="1300" dirty="0"/>
          </a:p>
        </p:txBody>
      </p:sp>
      <p:sp>
        <p:nvSpPr>
          <p:cNvPr id="14" name="Shape 10">
            <a:extLst>
              <a:ext uri="{FF2B5EF4-FFF2-40B4-BE49-F238E27FC236}">
                <a16:creationId xmlns:a16="http://schemas.microsoft.com/office/drawing/2014/main" id="{1792D665-275F-B46C-B270-8080B1D4ED52}"/>
              </a:ext>
            </a:extLst>
          </p:cNvPr>
          <p:cNvSpPr/>
          <p:nvPr/>
        </p:nvSpPr>
        <p:spPr>
          <a:xfrm>
            <a:off x="5128997" y="4217670"/>
            <a:ext cx="1828800" cy="502920"/>
          </a:xfrm>
          <a:prstGeom prst="roundRect">
            <a:avLst>
              <a:gd name="adj" fmla="val 9091"/>
            </a:avLst>
          </a:prstGeom>
          <a:solidFill>
            <a:srgbClr val="1A6B8A"/>
          </a:solidFill>
          <a:ln w="12700">
            <a:solidFill>
              <a:srgbClr val="1A6B8A"/>
            </a:solidFill>
            <a:prstDash val="solid"/>
          </a:ln>
        </p:spPr>
        <p:txBody>
          <a:bodyPr/>
          <a:lstStyle/>
          <a:p>
            <a:endParaRPr lang="en-IN"/>
          </a:p>
        </p:txBody>
      </p:sp>
      <p:sp>
        <p:nvSpPr>
          <p:cNvPr id="15" name="Text 11">
            <a:extLst>
              <a:ext uri="{FF2B5EF4-FFF2-40B4-BE49-F238E27FC236}">
                <a16:creationId xmlns:a16="http://schemas.microsoft.com/office/drawing/2014/main" id="{89D949FE-1CE3-4E90-F556-89565963C890}"/>
              </a:ext>
            </a:extLst>
          </p:cNvPr>
          <p:cNvSpPr/>
          <p:nvPr/>
        </p:nvSpPr>
        <p:spPr>
          <a:xfrm>
            <a:off x="4395265" y="4245103"/>
            <a:ext cx="3185406"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FFFFFF"/>
                </a:solidFill>
                <a:latin typeface="Calibri" pitchFamily="34" charset="0"/>
                <a:ea typeface="Calibri" pitchFamily="34" charset="-122"/>
                <a:cs typeface="Calibri" pitchFamily="34" charset="-120"/>
              </a:rPr>
              <a:t>Employee</a:t>
            </a:r>
            <a:endParaRPr lang="en-US" sz="1300" dirty="0"/>
          </a:p>
        </p:txBody>
      </p:sp>
      <p:sp>
        <p:nvSpPr>
          <p:cNvPr id="16" name="Shape 12">
            <a:extLst>
              <a:ext uri="{FF2B5EF4-FFF2-40B4-BE49-F238E27FC236}">
                <a16:creationId xmlns:a16="http://schemas.microsoft.com/office/drawing/2014/main" id="{773018AB-D024-4954-8752-8AB86FF4C271}"/>
              </a:ext>
            </a:extLst>
          </p:cNvPr>
          <p:cNvSpPr/>
          <p:nvPr/>
        </p:nvSpPr>
        <p:spPr>
          <a:xfrm>
            <a:off x="8739156" y="4225947"/>
            <a:ext cx="1828800" cy="574969"/>
          </a:xfrm>
          <a:prstGeom prst="roundRect">
            <a:avLst>
              <a:gd name="adj" fmla="val 9091"/>
            </a:avLst>
          </a:prstGeom>
          <a:solidFill>
            <a:srgbClr val="1A6B8A"/>
          </a:solidFill>
          <a:ln w="12700">
            <a:solidFill>
              <a:srgbClr val="1A6B8A"/>
            </a:solidFill>
            <a:prstDash val="solid"/>
          </a:ln>
        </p:spPr>
        <p:txBody>
          <a:bodyPr/>
          <a:lstStyle/>
          <a:p>
            <a:endParaRPr lang="en-IN"/>
          </a:p>
        </p:txBody>
      </p:sp>
      <p:sp>
        <p:nvSpPr>
          <p:cNvPr id="17" name="Text 13">
            <a:extLst>
              <a:ext uri="{FF2B5EF4-FFF2-40B4-BE49-F238E27FC236}">
                <a16:creationId xmlns:a16="http://schemas.microsoft.com/office/drawing/2014/main" id="{F3B841C6-1C49-7E26-58FD-A6EF3D699926}"/>
              </a:ext>
            </a:extLst>
          </p:cNvPr>
          <p:cNvSpPr/>
          <p:nvPr/>
        </p:nvSpPr>
        <p:spPr>
          <a:xfrm>
            <a:off x="8763737" y="4217670"/>
            <a:ext cx="18288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FFFFFF"/>
                </a:solidFill>
                <a:latin typeface="Calibri" pitchFamily="34" charset="0"/>
                <a:ea typeface="Calibri" pitchFamily="34" charset="-122"/>
                <a:cs typeface="Calibri" pitchFamily="34" charset="-120"/>
              </a:rPr>
              <a:t>Administrator</a:t>
            </a:r>
            <a:endParaRPr lang="en-US" sz="1300" dirty="0"/>
          </a:p>
        </p:txBody>
      </p:sp>
      <p:sp>
        <p:nvSpPr>
          <p:cNvPr id="18" name="Text 14">
            <a:extLst>
              <a:ext uri="{FF2B5EF4-FFF2-40B4-BE49-F238E27FC236}">
                <a16:creationId xmlns:a16="http://schemas.microsoft.com/office/drawing/2014/main" id="{F16FBEF9-996A-EACC-9131-BDDECA3BD533}"/>
              </a:ext>
            </a:extLst>
          </p:cNvPr>
          <p:cNvSpPr/>
          <p:nvPr/>
        </p:nvSpPr>
        <p:spPr>
          <a:xfrm>
            <a:off x="1524000" y="5612130"/>
            <a:ext cx="91440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dirty="0"/>
          </a:p>
        </p:txBody>
      </p:sp>
      <p:sp>
        <p:nvSpPr>
          <p:cNvPr id="3" name="TextBox 2">
            <a:extLst>
              <a:ext uri="{FF2B5EF4-FFF2-40B4-BE49-F238E27FC236}">
                <a16:creationId xmlns:a16="http://schemas.microsoft.com/office/drawing/2014/main" id="{E23892E3-EEED-C933-51AC-CD17929FBD92}"/>
              </a:ext>
            </a:extLst>
          </p:cNvPr>
          <p:cNvSpPr txBox="1"/>
          <p:nvPr/>
        </p:nvSpPr>
        <p:spPr>
          <a:xfrm>
            <a:off x="4807405" y="3623481"/>
            <a:ext cx="1964640" cy="369332"/>
          </a:xfrm>
          <a:prstGeom prst="rect">
            <a:avLst/>
          </a:prstGeom>
          <a:noFill/>
        </p:spPr>
        <p:txBody>
          <a:bodyPr wrap="none" rtlCol="0">
            <a:spAutoFit/>
          </a:bodyPr>
          <a:lstStyle/>
          <a:p>
            <a:r>
              <a:rPr lang="en-US" dirty="0">
                <a:solidFill>
                  <a:schemeClr val="bg2">
                    <a:lumMod val="75000"/>
                  </a:schemeClr>
                </a:solidFill>
              </a:rPr>
              <a:t>A GUIDANCE FOR</a:t>
            </a:r>
            <a:endParaRPr lang="en-IN" dirty="0">
              <a:solidFill>
                <a:schemeClr val="bg2">
                  <a:lumMod val="75000"/>
                </a:schemeClr>
              </a:solidFill>
            </a:endParaRPr>
          </a:p>
        </p:txBody>
      </p:sp>
      <p:sp>
        <p:nvSpPr>
          <p:cNvPr id="19" name="Plus Sign 18">
            <a:extLst>
              <a:ext uri="{FF2B5EF4-FFF2-40B4-BE49-F238E27FC236}">
                <a16:creationId xmlns:a16="http://schemas.microsoft.com/office/drawing/2014/main" id="{623E5558-C3F4-4D7C-D4EB-6DAFE7553A03}"/>
              </a:ext>
            </a:extLst>
          </p:cNvPr>
          <p:cNvSpPr/>
          <p:nvPr/>
        </p:nvSpPr>
        <p:spPr>
          <a:xfrm>
            <a:off x="5318597" y="752557"/>
            <a:ext cx="895391" cy="702735"/>
          </a:xfrm>
          <a:prstGeom prst="mathPlus">
            <a:avLst/>
          </a:prstGeom>
          <a:solidFill>
            <a:srgbClr val="FF0000"/>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089948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901440" cy="6858000"/>
          </a:xfrm>
          <a:prstGeom prst="rect">
            <a:avLst/>
          </a:prstGeom>
          <a:solidFill>
            <a:schemeClr val="bg2">
              <a:lumMod val="10000"/>
            </a:schemeClr>
          </a:solidFill>
          <a:ln w="12700">
            <a:solidFill>
              <a:srgbClr val="1B2A4A"/>
            </a:solidFill>
            <a:prstDash val="solid"/>
          </a:ln>
        </p:spPr>
      </p:sp>
      <p:sp>
        <p:nvSpPr>
          <p:cNvPr id="3" name="Shape 1"/>
          <p:cNvSpPr/>
          <p:nvPr/>
        </p:nvSpPr>
        <p:spPr>
          <a:xfrm>
            <a:off x="0" y="0"/>
            <a:ext cx="3901440" cy="73152"/>
          </a:xfrm>
          <a:prstGeom prst="rect">
            <a:avLst/>
          </a:prstGeom>
          <a:solidFill>
            <a:srgbClr val="C49A2A"/>
          </a:solidFill>
          <a:ln w="12700">
            <a:solidFill>
              <a:srgbClr val="C49A2A"/>
            </a:solidFill>
            <a:prstDash val="solid"/>
          </a:ln>
        </p:spPr>
      </p:sp>
      <p:sp>
        <p:nvSpPr>
          <p:cNvPr id="4" name="Text 2"/>
          <p:cNvSpPr/>
          <p:nvPr/>
        </p:nvSpPr>
        <p:spPr>
          <a:xfrm>
            <a:off x="182880" y="1219200"/>
            <a:ext cx="3535680" cy="1706880"/>
          </a:xfrm>
          <a:prstGeom prst="rect">
            <a:avLst/>
          </a:prstGeom>
          <a:noFill/>
          <a:ln/>
        </p:spPr>
        <p:txBody>
          <a:bodyPr wrap="square" rtlCol="0" anchor="ctr"/>
          <a:lstStyle/>
          <a:p>
            <a:pPr algn="ctr"/>
            <a:r>
              <a:rPr lang="en-US" sz="5067" b="1" dirty="0">
                <a:solidFill>
                  <a:srgbClr val="FFFFFF"/>
                </a:solidFill>
                <a:latin typeface="Cambria" pitchFamily="34" charset="0"/>
                <a:ea typeface="Cambria" pitchFamily="34" charset="-122"/>
                <a:cs typeface="Cambria" pitchFamily="34" charset="-120"/>
              </a:rPr>
              <a:t>C</a:t>
            </a:r>
            <a:endParaRPr lang="en-US" sz="5067" dirty="0"/>
          </a:p>
          <a:p>
            <a:pPr algn="ctr"/>
            <a:r>
              <a:rPr lang="en-US" sz="5067" b="1" dirty="0">
                <a:solidFill>
                  <a:srgbClr val="FFFFFF"/>
                </a:solidFill>
                <a:latin typeface="Cambria" pitchFamily="34" charset="0"/>
                <a:ea typeface="Cambria" pitchFamily="34" charset="-122"/>
                <a:cs typeface="Cambria" pitchFamily="34" charset="-120"/>
              </a:rPr>
              <a:t>Language</a:t>
            </a:r>
            <a:endParaRPr lang="en-US" sz="5067" dirty="0"/>
          </a:p>
        </p:txBody>
      </p:sp>
      <p:sp>
        <p:nvSpPr>
          <p:cNvPr id="5" name="Text 3"/>
          <p:cNvSpPr/>
          <p:nvPr/>
        </p:nvSpPr>
        <p:spPr>
          <a:xfrm>
            <a:off x="182880" y="3230880"/>
            <a:ext cx="3535680" cy="1219200"/>
          </a:xfrm>
          <a:prstGeom prst="rect">
            <a:avLst/>
          </a:prstGeom>
          <a:noFill/>
          <a:ln/>
        </p:spPr>
        <p:txBody>
          <a:bodyPr wrap="square" rtlCol="0" anchor="ctr"/>
          <a:lstStyle/>
          <a:p>
            <a:pPr algn="ctr"/>
            <a:r>
              <a:rPr lang="en-US" sz="1733" dirty="0">
                <a:solidFill>
                  <a:srgbClr val="CADCFC"/>
                </a:solidFill>
                <a:latin typeface="Calibri" pitchFamily="34" charset="0"/>
                <a:ea typeface="Calibri" pitchFamily="34" charset="-122"/>
                <a:cs typeface="Calibri" pitchFamily="34" charset="-120"/>
              </a:rPr>
              <a:t>Developed by</a:t>
            </a:r>
            <a:endParaRPr lang="en-US" sz="1733" dirty="0"/>
          </a:p>
          <a:p>
            <a:pPr algn="ctr"/>
            <a:r>
              <a:rPr lang="en-US" sz="1733" b="1" dirty="0">
                <a:solidFill>
                  <a:srgbClr val="CADCFC"/>
                </a:solidFill>
                <a:latin typeface="Calibri" pitchFamily="34" charset="0"/>
                <a:ea typeface="Calibri" pitchFamily="34" charset="-122"/>
                <a:cs typeface="Calibri" pitchFamily="34" charset="-120"/>
              </a:rPr>
              <a:t>Dennis Ritchie</a:t>
            </a:r>
            <a:endParaRPr lang="en-US" sz="1733" dirty="0"/>
          </a:p>
          <a:p>
            <a:pPr algn="ctr"/>
            <a:r>
              <a:rPr lang="en-US" sz="1733" dirty="0">
                <a:solidFill>
                  <a:srgbClr val="CADCFC"/>
                </a:solidFill>
                <a:latin typeface="Calibri" pitchFamily="34" charset="0"/>
                <a:ea typeface="Calibri" pitchFamily="34" charset="-122"/>
                <a:cs typeface="Calibri" pitchFamily="34" charset="-120"/>
              </a:rPr>
              <a:t>Bell Labs, 1972</a:t>
            </a:r>
            <a:endParaRPr lang="en-US" sz="1733" dirty="0"/>
          </a:p>
        </p:txBody>
      </p:sp>
      <p:sp>
        <p:nvSpPr>
          <p:cNvPr id="6" name="Text 4"/>
          <p:cNvSpPr/>
          <p:nvPr/>
        </p:nvSpPr>
        <p:spPr>
          <a:xfrm>
            <a:off x="182880" y="4693920"/>
            <a:ext cx="3535680" cy="1097280"/>
          </a:xfrm>
          <a:prstGeom prst="rect">
            <a:avLst/>
          </a:prstGeom>
          <a:noFill/>
          <a:ln/>
        </p:spPr>
        <p:txBody>
          <a:bodyPr wrap="square" rtlCol="0" anchor="ctr"/>
          <a:lstStyle/>
          <a:p>
            <a:pPr algn="ctr"/>
            <a:r>
              <a:rPr lang="en-US" sz="1600" i="1" dirty="0">
                <a:solidFill>
                  <a:srgbClr val="C49A2A"/>
                </a:solidFill>
                <a:latin typeface="Calibri" pitchFamily="34" charset="0"/>
                <a:ea typeface="Calibri" pitchFamily="34" charset="-122"/>
                <a:cs typeface="Calibri" pitchFamily="34" charset="-120"/>
              </a:rPr>
              <a:t>General-Purpose</a:t>
            </a:r>
            <a:endParaRPr lang="en-US" sz="1600" dirty="0"/>
          </a:p>
          <a:p>
            <a:pPr algn="ctr"/>
            <a:r>
              <a:rPr lang="en-US" sz="1600" i="1" dirty="0">
                <a:solidFill>
                  <a:srgbClr val="C49A2A"/>
                </a:solidFill>
                <a:latin typeface="Calibri" pitchFamily="34" charset="0"/>
                <a:ea typeface="Calibri" pitchFamily="34" charset="-122"/>
                <a:cs typeface="Calibri" pitchFamily="34" charset="-120"/>
              </a:rPr>
              <a:t>Procedural Language</a:t>
            </a:r>
            <a:endParaRPr lang="en-US" sz="1600" dirty="0"/>
          </a:p>
        </p:txBody>
      </p:sp>
      <p:sp>
        <p:nvSpPr>
          <p:cNvPr id="7" name="Text 5"/>
          <p:cNvSpPr/>
          <p:nvPr/>
        </p:nvSpPr>
        <p:spPr>
          <a:xfrm>
            <a:off x="4267200" y="365760"/>
            <a:ext cx="7559040" cy="670560"/>
          </a:xfrm>
          <a:prstGeom prst="rect">
            <a:avLst/>
          </a:prstGeom>
          <a:noFill/>
          <a:ln/>
        </p:spPr>
        <p:txBody>
          <a:bodyPr wrap="square" rtlCol="0" anchor="ctr"/>
          <a:lstStyle/>
          <a:p>
            <a:r>
              <a:rPr lang="en-US" sz="2933" b="1" dirty="0">
                <a:solidFill>
                  <a:srgbClr val="1B2A4A"/>
                </a:solidFill>
                <a:latin typeface="Cambria" pitchFamily="34" charset="0"/>
                <a:ea typeface="Cambria" pitchFamily="34" charset="-122"/>
                <a:cs typeface="Cambria" pitchFamily="34" charset="-120"/>
              </a:rPr>
              <a:t>About C Programming Language</a:t>
            </a:r>
            <a:endParaRPr lang="en-US" sz="2933" dirty="0"/>
          </a:p>
        </p:txBody>
      </p:sp>
      <p:sp>
        <p:nvSpPr>
          <p:cNvPr id="8" name="Shape 6"/>
          <p:cNvSpPr/>
          <p:nvPr/>
        </p:nvSpPr>
        <p:spPr>
          <a:xfrm>
            <a:off x="4267200" y="1036320"/>
            <a:ext cx="7559040" cy="48768"/>
          </a:xfrm>
          <a:prstGeom prst="rect">
            <a:avLst/>
          </a:prstGeom>
          <a:solidFill>
            <a:srgbClr val="C49A2A"/>
          </a:solidFill>
          <a:ln w="12700">
            <a:solidFill>
              <a:srgbClr val="C49A2A"/>
            </a:solidFill>
            <a:prstDash val="solid"/>
          </a:ln>
        </p:spPr>
      </p:sp>
      <p:sp>
        <p:nvSpPr>
          <p:cNvPr id="9" name="Text 7"/>
          <p:cNvSpPr/>
          <p:nvPr/>
        </p:nvSpPr>
        <p:spPr>
          <a:xfrm>
            <a:off x="4267200" y="1194816"/>
            <a:ext cx="7559040" cy="1219200"/>
          </a:xfrm>
          <a:prstGeom prst="rect">
            <a:avLst/>
          </a:prstGeom>
          <a:noFill/>
          <a:ln/>
        </p:spPr>
        <p:txBody>
          <a:bodyPr wrap="square" rtlCol="0" anchor="ctr"/>
          <a:lstStyle/>
          <a:p>
            <a:r>
              <a:rPr lang="en-US" sz="1733" dirty="0">
                <a:solidFill>
                  <a:srgbClr val="333333"/>
                </a:solidFill>
                <a:latin typeface="Calibri" pitchFamily="34" charset="0"/>
                <a:ea typeface="Calibri" pitchFamily="34" charset="-122"/>
                <a:cs typeface="Calibri" pitchFamily="34" charset="-120"/>
              </a:rPr>
              <a:t>C is a powerful, general-purpose procedural programming language widely considered the foundational language of modern computer science. It offers a balance of high-level efficiency and low-level hardware control.</a:t>
            </a:r>
            <a:endParaRPr lang="en-US" sz="1733" dirty="0"/>
          </a:p>
        </p:txBody>
      </p:sp>
      <p:sp>
        <p:nvSpPr>
          <p:cNvPr id="10" name="Shape 8"/>
          <p:cNvSpPr/>
          <p:nvPr/>
        </p:nvSpPr>
        <p:spPr>
          <a:xfrm>
            <a:off x="4267200" y="2560320"/>
            <a:ext cx="7559040" cy="792480"/>
          </a:xfrm>
          <a:prstGeom prst="roundRect">
            <a:avLst>
              <a:gd name="adj" fmla="val 6154"/>
            </a:avLst>
          </a:prstGeom>
          <a:solidFill>
            <a:srgbClr val="FFFFFF"/>
          </a:solidFill>
          <a:ln w="6350">
            <a:solidFill>
              <a:srgbClr val="D0D8E8"/>
            </a:solidFill>
            <a:prstDash val="solid"/>
          </a:ln>
          <a:effectLst>
            <a:outerShdw blurRad="50800" dist="12700" dir="2700000" algn="bl" rotWithShape="0">
              <a:srgbClr val="000000">
                <a:alpha val="8000"/>
              </a:srgbClr>
            </a:outerShdw>
          </a:effectLst>
        </p:spPr>
      </p:sp>
      <p:sp>
        <p:nvSpPr>
          <p:cNvPr id="11" name="Shape 9"/>
          <p:cNvSpPr/>
          <p:nvPr/>
        </p:nvSpPr>
        <p:spPr>
          <a:xfrm>
            <a:off x="4267200" y="2560320"/>
            <a:ext cx="85344" cy="792480"/>
          </a:xfrm>
          <a:prstGeom prst="rect">
            <a:avLst/>
          </a:prstGeom>
          <a:solidFill>
            <a:srgbClr val="C49A2A"/>
          </a:solidFill>
          <a:ln w="12700">
            <a:solidFill>
              <a:srgbClr val="C49A2A"/>
            </a:solidFill>
            <a:prstDash val="solid"/>
          </a:ln>
        </p:spPr>
      </p:sp>
      <p:sp>
        <p:nvSpPr>
          <p:cNvPr id="12" name="Text 10"/>
          <p:cNvSpPr/>
          <p:nvPr/>
        </p:nvSpPr>
        <p:spPr>
          <a:xfrm>
            <a:off x="4511040" y="2609088"/>
            <a:ext cx="7193280" cy="341376"/>
          </a:xfrm>
          <a:prstGeom prst="rect">
            <a:avLst/>
          </a:prstGeom>
          <a:noFill/>
          <a:ln/>
        </p:spPr>
        <p:txBody>
          <a:bodyPr wrap="square" lIns="0" tIns="0" rIns="0" bIns="0" rtlCol="0" anchor="ctr"/>
          <a:lstStyle/>
          <a:p>
            <a:r>
              <a:rPr lang="en-US" sz="1600" b="1" dirty="0">
                <a:solidFill>
                  <a:srgbClr val="1B2A4A"/>
                </a:solidFill>
                <a:latin typeface="Calibri" pitchFamily="34" charset="0"/>
                <a:ea typeface="Calibri" pitchFamily="34" charset="-122"/>
                <a:cs typeface="Calibri" pitchFamily="34" charset="-120"/>
              </a:rPr>
              <a:t>System Programming</a:t>
            </a:r>
            <a:endParaRPr lang="en-US" sz="1600" dirty="0"/>
          </a:p>
        </p:txBody>
      </p:sp>
      <p:sp>
        <p:nvSpPr>
          <p:cNvPr id="13" name="Text 11"/>
          <p:cNvSpPr/>
          <p:nvPr/>
        </p:nvSpPr>
        <p:spPr>
          <a:xfrm>
            <a:off x="4511040" y="2926080"/>
            <a:ext cx="7193280" cy="341376"/>
          </a:xfrm>
          <a:prstGeom prst="rect">
            <a:avLst/>
          </a:prstGeom>
          <a:noFill/>
          <a:ln/>
        </p:spPr>
        <p:txBody>
          <a:bodyPr wrap="square" lIns="0" tIns="0" rIns="0" bIns="0" rtlCol="0" anchor="ctr"/>
          <a:lstStyle/>
          <a:p>
            <a:r>
              <a:rPr lang="en-US" sz="1467" dirty="0">
                <a:solidFill>
                  <a:srgbClr val="555555"/>
                </a:solidFill>
                <a:latin typeface="Calibri" pitchFamily="34" charset="0"/>
                <a:ea typeface="Calibri" pitchFamily="34" charset="-122"/>
                <a:cs typeface="Calibri" pitchFamily="34" charset="-120"/>
              </a:rPr>
              <a:t>Building operating systems like Linux and Windows</a:t>
            </a:r>
            <a:endParaRPr lang="en-US" sz="1467" dirty="0"/>
          </a:p>
        </p:txBody>
      </p:sp>
      <p:sp>
        <p:nvSpPr>
          <p:cNvPr id="14" name="Shape 12"/>
          <p:cNvSpPr/>
          <p:nvPr/>
        </p:nvSpPr>
        <p:spPr>
          <a:xfrm>
            <a:off x="4267200" y="3499104"/>
            <a:ext cx="7559040" cy="792480"/>
          </a:xfrm>
          <a:prstGeom prst="roundRect">
            <a:avLst>
              <a:gd name="adj" fmla="val 6154"/>
            </a:avLst>
          </a:prstGeom>
          <a:solidFill>
            <a:srgbClr val="FFFFFF"/>
          </a:solidFill>
          <a:ln w="6350">
            <a:solidFill>
              <a:srgbClr val="D0D8E8"/>
            </a:solidFill>
            <a:prstDash val="solid"/>
          </a:ln>
          <a:effectLst>
            <a:outerShdw blurRad="50800" dist="12700" dir="2700000" algn="bl" rotWithShape="0">
              <a:srgbClr val="000000">
                <a:alpha val="8000"/>
              </a:srgbClr>
            </a:outerShdw>
          </a:effectLst>
        </p:spPr>
      </p:sp>
      <p:sp>
        <p:nvSpPr>
          <p:cNvPr id="15" name="Shape 13"/>
          <p:cNvSpPr/>
          <p:nvPr/>
        </p:nvSpPr>
        <p:spPr>
          <a:xfrm>
            <a:off x="4267200" y="3499104"/>
            <a:ext cx="85344" cy="792480"/>
          </a:xfrm>
          <a:prstGeom prst="rect">
            <a:avLst/>
          </a:prstGeom>
          <a:solidFill>
            <a:srgbClr val="C49A2A"/>
          </a:solidFill>
          <a:ln w="12700">
            <a:solidFill>
              <a:srgbClr val="C49A2A"/>
            </a:solidFill>
            <a:prstDash val="solid"/>
          </a:ln>
        </p:spPr>
      </p:sp>
      <p:sp>
        <p:nvSpPr>
          <p:cNvPr id="16" name="Text 14"/>
          <p:cNvSpPr/>
          <p:nvPr/>
        </p:nvSpPr>
        <p:spPr>
          <a:xfrm>
            <a:off x="4511040" y="3547872"/>
            <a:ext cx="7193280" cy="341376"/>
          </a:xfrm>
          <a:prstGeom prst="rect">
            <a:avLst/>
          </a:prstGeom>
          <a:noFill/>
          <a:ln/>
        </p:spPr>
        <p:txBody>
          <a:bodyPr wrap="square" lIns="0" tIns="0" rIns="0" bIns="0" rtlCol="0" anchor="ctr"/>
          <a:lstStyle/>
          <a:p>
            <a:r>
              <a:rPr lang="en-US" sz="1600" b="1" dirty="0">
                <a:solidFill>
                  <a:srgbClr val="1B2A4A"/>
                </a:solidFill>
                <a:latin typeface="Calibri" pitchFamily="34" charset="0"/>
                <a:ea typeface="Calibri" pitchFamily="34" charset="-122"/>
                <a:cs typeface="Calibri" pitchFamily="34" charset="-120"/>
              </a:rPr>
              <a:t>Hardware Interaction</a:t>
            </a:r>
            <a:endParaRPr lang="en-US" sz="1600" dirty="0"/>
          </a:p>
        </p:txBody>
      </p:sp>
      <p:sp>
        <p:nvSpPr>
          <p:cNvPr id="17" name="Text 15"/>
          <p:cNvSpPr/>
          <p:nvPr/>
        </p:nvSpPr>
        <p:spPr>
          <a:xfrm>
            <a:off x="4511040" y="3864864"/>
            <a:ext cx="7193280" cy="341376"/>
          </a:xfrm>
          <a:prstGeom prst="rect">
            <a:avLst/>
          </a:prstGeom>
          <a:noFill/>
          <a:ln/>
        </p:spPr>
        <p:txBody>
          <a:bodyPr wrap="square" lIns="0" tIns="0" rIns="0" bIns="0" rtlCol="0" anchor="ctr"/>
          <a:lstStyle/>
          <a:p>
            <a:r>
              <a:rPr lang="en-US" sz="1467" dirty="0">
                <a:solidFill>
                  <a:srgbClr val="555555"/>
                </a:solidFill>
                <a:latin typeface="Calibri" pitchFamily="34" charset="0"/>
                <a:ea typeface="Calibri" pitchFamily="34" charset="-122"/>
                <a:cs typeface="Calibri" pitchFamily="34" charset="-120"/>
              </a:rPr>
              <a:t>Writing drivers to communicate directly with devices</a:t>
            </a:r>
            <a:endParaRPr lang="en-US" sz="1467" dirty="0"/>
          </a:p>
        </p:txBody>
      </p:sp>
      <p:sp>
        <p:nvSpPr>
          <p:cNvPr id="18" name="Shape 16"/>
          <p:cNvSpPr/>
          <p:nvPr/>
        </p:nvSpPr>
        <p:spPr>
          <a:xfrm>
            <a:off x="4267200" y="4437888"/>
            <a:ext cx="7559040" cy="792480"/>
          </a:xfrm>
          <a:prstGeom prst="roundRect">
            <a:avLst>
              <a:gd name="adj" fmla="val 6154"/>
            </a:avLst>
          </a:prstGeom>
          <a:solidFill>
            <a:srgbClr val="FFFFFF"/>
          </a:solidFill>
          <a:ln w="6350">
            <a:solidFill>
              <a:srgbClr val="D0D8E8"/>
            </a:solidFill>
            <a:prstDash val="solid"/>
          </a:ln>
          <a:effectLst>
            <a:outerShdw blurRad="50800" dist="12700" dir="2700000" algn="bl" rotWithShape="0">
              <a:srgbClr val="000000">
                <a:alpha val="8000"/>
              </a:srgbClr>
            </a:outerShdw>
          </a:effectLst>
        </p:spPr>
      </p:sp>
      <p:sp>
        <p:nvSpPr>
          <p:cNvPr id="19" name="Shape 17"/>
          <p:cNvSpPr/>
          <p:nvPr/>
        </p:nvSpPr>
        <p:spPr>
          <a:xfrm>
            <a:off x="4267200" y="4437888"/>
            <a:ext cx="85344" cy="792480"/>
          </a:xfrm>
          <a:prstGeom prst="rect">
            <a:avLst/>
          </a:prstGeom>
          <a:solidFill>
            <a:srgbClr val="C49A2A"/>
          </a:solidFill>
          <a:ln w="12700">
            <a:solidFill>
              <a:srgbClr val="C49A2A"/>
            </a:solidFill>
            <a:prstDash val="solid"/>
          </a:ln>
        </p:spPr>
      </p:sp>
      <p:sp>
        <p:nvSpPr>
          <p:cNvPr id="20" name="Text 18"/>
          <p:cNvSpPr/>
          <p:nvPr/>
        </p:nvSpPr>
        <p:spPr>
          <a:xfrm>
            <a:off x="4511040" y="4486656"/>
            <a:ext cx="7193280" cy="341376"/>
          </a:xfrm>
          <a:prstGeom prst="rect">
            <a:avLst/>
          </a:prstGeom>
          <a:noFill/>
          <a:ln/>
        </p:spPr>
        <p:txBody>
          <a:bodyPr wrap="square" lIns="0" tIns="0" rIns="0" bIns="0" rtlCol="0" anchor="ctr"/>
          <a:lstStyle/>
          <a:p>
            <a:r>
              <a:rPr lang="en-US" sz="1600" b="1" dirty="0">
                <a:solidFill>
                  <a:srgbClr val="1B2A4A"/>
                </a:solidFill>
                <a:latin typeface="Calibri" pitchFamily="34" charset="0"/>
                <a:ea typeface="Calibri" pitchFamily="34" charset="-122"/>
                <a:cs typeface="Calibri" pitchFamily="34" charset="-120"/>
              </a:rPr>
              <a:t>Firmware Development</a:t>
            </a:r>
            <a:endParaRPr lang="en-US" sz="1600" dirty="0"/>
          </a:p>
        </p:txBody>
      </p:sp>
      <p:sp>
        <p:nvSpPr>
          <p:cNvPr id="21" name="Text 19"/>
          <p:cNvSpPr/>
          <p:nvPr/>
        </p:nvSpPr>
        <p:spPr>
          <a:xfrm>
            <a:off x="4511040" y="4803648"/>
            <a:ext cx="7193280" cy="341376"/>
          </a:xfrm>
          <a:prstGeom prst="rect">
            <a:avLst/>
          </a:prstGeom>
          <a:noFill/>
          <a:ln/>
        </p:spPr>
        <p:txBody>
          <a:bodyPr wrap="square" lIns="0" tIns="0" rIns="0" bIns="0" rtlCol="0" anchor="ctr"/>
          <a:lstStyle/>
          <a:p>
            <a:r>
              <a:rPr lang="en-US" sz="1467" dirty="0">
                <a:solidFill>
                  <a:srgbClr val="555555"/>
                </a:solidFill>
                <a:latin typeface="Calibri" pitchFamily="34" charset="0"/>
                <a:ea typeface="Calibri" pitchFamily="34" charset="-122"/>
                <a:cs typeface="Calibri" pitchFamily="34" charset="-120"/>
              </a:rPr>
              <a:t>Programming microcontrollers and embedded systems</a:t>
            </a:r>
            <a:endParaRPr lang="en-US" sz="1467" dirty="0"/>
          </a:p>
        </p:txBody>
      </p:sp>
      <p:sp>
        <p:nvSpPr>
          <p:cNvPr id="22" name="Shape 20"/>
          <p:cNvSpPr/>
          <p:nvPr/>
        </p:nvSpPr>
        <p:spPr>
          <a:xfrm>
            <a:off x="4267200" y="5376672"/>
            <a:ext cx="7559040" cy="792480"/>
          </a:xfrm>
          <a:prstGeom prst="roundRect">
            <a:avLst>
              <a:gd name="adj" fmla="val 6154"/>
            </a:avLst>
          </a:prstGeom>
          <a:solidFill>
            <a:srgbClr val="FFFFFF"/>
          </a:solidFill>
          <a:ln w="6350">
            <a:solidFill>
              <a:srgbClr val="D0D8E8"/>
            </a:solidFill>
            <a:prstDash val="solid"/>
          </a:ln>
          <a:effectLst>
            <a:outerShdw blurRad="50800" dist="12700" dir="2700000" algn="bl" rotWithShape="0">
              <a:srgbClr val="000000">
                <a:alpha val="8000"/>
              </a:srgbClr>
            </a:outerShdw>
          </a:effectLst>
        </p:spPr>
      </p:sp>
      <p:sp>
        <p:nvSpPr>
          <p:cNvPr id="23" name="Shape 21"/>
          <p:cNvSpPr/>
          <p:nvPr/>
        </p:nvSpPr>
        <p:spPr>
          <a:xfrm>
            <a:off x="4267200" y="5376672"/>
            <a:ext cx="85344" cy="792480"/>
          </a:xfrm>
          <a:prstGeom prst="rect">
            <a:avLst/>
          </a:prstGeom>
          <a:solidFill>
            <a:srgbClr val="C49A2A"/>
          </a:solidFill>
          <a:ln w="12700">
            <a:solidFill>
              <a:srgbClr val="C49A2A"/>
            </a:solidFill>
            <a:prstDash val="solid"/>
          </a:ln>
        </p:spPr>
      </p:sp>
      <p:sp>
        <p:nvSpPr>
          <p:cNvPr id="24" name="Text 22"/>
          <p:cNvSpPr/>
          <p:nvPr/>
        </p:nvSpPr>
        <p:spPr>
          <a:xfrm>
            <a:off x="4511040" y="5425440"/>
            <a:ext cx="7193280" cy="341376"/>
          </a:xfrm>
          <a:prstGeom prst="rect">
            <a:avLst/>
          </a:prstGeom>
          <a:noFill/>
          <a:ln/>
        </p:spPr>
        <p:txBody>
          <a:bodyPr wrap="square" lIns="0" tIns="0" rIns="0" bIns="0" rtlCol="0" anchor="ctr"/>
          <a:lstStyle/>
          <a:p>
            <a:r>
              <a:rPr lang="en-US" sz="1600" b="1" dirty="0">
                <a:solidFill>
                  <a:srgbClr val="1B2A4A"/>
                </a:solidFill>
                <a:latin typeface="Calibri" pitchFamily="34" charset="0"/>
                <a:ea typeface="Calibri" pitchFamily="34" charset="-122"/>
                <a:cs typeface="Calibri" pitchFamily="34" charset="-120"/>
              </a:rPr>
              <a:t>Core Engines</a:t>
            </a:r>
            <a:endParaRPr lang="en-US" sz="1600" dirty="0"/>
          </a:p>
        </p:txBody>
      </p:sp>
      <p:sp>
        <p:nvSpPr>
          <p:cNvPr id="25" name="Text 23"/>
          <p:cNvSpPr/>
          <p:nvPr/>
        </p:nvSpPr>
        <p:spPr>
          <a:xfrm>
            <a:off x="4511040" y="5742432"/>
            <a:ext cx="7193280" cy="341376"/>
          </a:xfrm>
          <a:prstGeom prst="rect">
            <a:avLst/>
          </a:prstGeom>
          <a:noFill/>
          <a:ln/>
        </p:spPr>
        <p:txBody>
          <a:bodyPr wrap="square" lIns="0" tIns="0" rIns="0" bIns="0" rtlCol="0" anchor="ctr"/>
          <a:lstStyle/>
          <a:p>
            <a:r>
              <a:rPr lang="en-US" sz="1467" dirty="0">
                <a:solidFill>
                  <a:srgbClr val="555555"/>
                </a:solidFill>
                <a:latin typeface="Calibri" pitchFamily="34" charset="0"/>
                <a:ea typeface="Calibri" pitchFamily="34" charset="-122"/>
                <a:cs typeface="Calibri" pitchFamily="34" charset="-120"/>
              </a:rPr>
              <a:t>Powering databases, game engines, and compilers</a:t>
            </a:r>
            <a:endParaRPr lang="en-US" sz="1467"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chemeClr val="bg2">
              <a:lumMod val="10000"/>
            </a:schemeClr>
          </a:solidFill>
          <a:ln w="12700">
            <a:solidFill>
              <a:srgbClr val="1B2A4A"/>
            </a:solidFill>
            <a:prstDash val="solid"/>
          </a:ln>
        </p:spPr>
      </p:sp>
      <p:sp>
        <p:nvSpPr>
          <p:cNvPr id="3" name="Shape 1"/>
          <p:cNvSpPr/>
          <p:nvPr/>
        </p:nvSpPr>
        <p:spPr>
          <a:xfrm>
            <a:off x="0" y="1146048"/>
            <a:ext cx="12192000" cy="73152"/>
          </a:xfrm>
          <a:prstGeom prst="rect">
            <a:avLst/>
          </a:prstGeom>
          <a:solidFill>
            <a:srgbClr val="C49A2A"/>
          </a:solidFill>
          <a:ln w="12700">
            <a:solidFill>
              <a:srgbClr val="C49A2A"/>
            </a:solidFill>
            <a:prstDash val="solid"/>
          </a:ln>
        </p:spPr>
      </p:sp>
      <p:sp>
        <p:nvSpPr>
          <p:cNvPr id="4" name="Text 2"/>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Advantages of C Language</a:t>
            </a:r>
            <a:endParaRPr lang="en-US" sz="3467" dirty="0"/>
          </a:p>
        </p:txBody>
      </p:sp>
      <p:sp>
        <p:nvSpPr>
          <p:cNvPr id="5" name="Shape 3"/>
          <p:cNvSpPr/>
          <p:nvPr/>
        </p:nvSpPr>
        <p:spPr>
          <a:xfrm>
            <a:off x="365760" y="1463040"/>
            <a:ext cx="3657600" cy="2255520"/>
          </a:xfrm>
          <a:prstGeom prst="roundRect">
            <a:avLst>
              <a:gd name="adj" fmla="val 3243"/>
            </a:avLst>
          </a:prstGeom>
          <a:solidFill>
            <a:srgbClr val="F4F6FA"/>
          </a:solidFill>
          <a:ln w="6350">
            <a:solidFill>
              <a:srgbClr val="D8E0EE"/>
            </a:solidFill>
            <a:prstDash val="solid"/>
          </a:ln>
          <a:effectLst>
            <a:outerShdw blurRad="63500" dist="25400" dir="2700000" algn="bl" rotWithShape="0">
              <a:srgbClr val="000000">
                <a:alpha val="10000"/>
              </a:srgbClr>
            </a:outerShdw>
          </a:effectLst>
        </p:spPr>
      </p:sp>
      <p:sp>
        <p:nvSpPr>
          <p:cNvPr id="6" name="Shape 4"/>
          <p:cNvSpPr/>
          <p:nvPr/>
        </p:nvSpPr>
        <p:spPr>
          <a:xfrm>
            <a:off x="365760" y="1463040"/>
            <a:ext cx="3657600" cy="97536"/>
          </a:xfrm>
          <a:prstGeom prst="rect">
            <a:avLst/>
          </a:prstGeom>
          <a:solidFill>
            <a:srgbClr val="C49A2A"/>
          </a:solidFill>
          <a:ln w="12700">
            <a:solidFill>
              <a:srgbClr val="C49A2A"/>
            </a:solidFill>
            <a:prstDash val="solid"/>
          </a:ln>
        </p:spPr>
      </p:sp>
      <p:sp>
        <p:nvSpPr>
          <p:cNvPr id="7" name="Text 5"/>
          <p:cNvSpPr/>
          <p:nvPr/>
        </p:nvSpPr>
        <p:spPr>
          <a:xfrm>
            <a:off x="548640" y="1645920"/>
            <a:ext cx="3291840" cy="48768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High Efficiency</a:t>
            </a:r>
            <a:endParaRPr lang="en-US" sz="1733" dirty="0"/>
          </a:p>
        </p:txBody>
      </p:sp>
      <p:sp>
        <p:nvSpPr>
          <p:cNvPr id="8" name="Text 6"/>
          <p:cNvSpPr/>
          <p:nvPr/>
        </p:nvSpPr>
        <p:spPr>
          <a:xfrm>
            <a:off x="548640" y="2170176"/>
            <a:ext cx="3291840" cy="1036320"/>
          </a:xfrm>
          <a:prstGeom prst="rect">
            <a:avLst/>
          </a:prstGeom>
          <a:noFill/>
          <a:ln/>
        </p:spPr>
        <p:txBody>
          <a:bodyPr wrap="square" lIns="0" tIns="0" rIns="0" bIns="0" rtlCol="0" anchor="ctr"/>
          <a:lstStyle/>
          <a:p>
            <a:r>
              <a:rPr lang="en-US" sz="1467" dirty="0">
                <a:solidFill>
                  <a:srgbClr val="444444"/>
                </a:solidFill>
                <a:latin typeface="Calibri" pitchFamily="34" charset="0"/>
                <a:ea typeface="Calibri" pitchFamily="34" charset="-122"/>
                <a:cs typeface="Calibri" pitchFamily="34" charset="-120"/>
              </a:rPr>
              <a:t>Executes code rapidly close to machine speed</a:t>
            </a:r>
            <a:endParaRPr lang="en-US" sz="1467" dirty="0"/>
          </a:p>
        </p:txBody>
      </p:sp>
      <p:sp>
        <p:nvSpPr>
          <p:cNvPr id="9" name="Shape 7"/>
          <p:cNvSpPr/>
          <p:nvPr/>
        </p:nvSpPr>
        <p:spPr>
          <a:xfrm>
            <a:off x="4267200" y="1463040"/>
            <a:ext cx="3657600" cy="2255520"/>
          </a:xfrm>
          <a:prstGeom prst="roundRect">
            <a:avLst>
              <a:gd name="adj" fmla="val 3243"/>
            </a:avLst>
          </a:prstGeom>
          <a:solidFill>
            <a:srgbClr val="F4F6FA"/>
          </a:solidFill>
          <a:ln w="6350">
            <a:solidFill>
              <a:srgbClr val="D8E0EE"/>
            </a:solidFill>
            <a:prstDash val="solid"/>
          </a:ln>
          <a:effectLst>
            <a:outerShdw blurRad="63500" dist="25400" dir="2700000" algn="bl" rotWithShape="0">
              <a:srgbClr val="000000">
                <a:alpha val="10000"/>
              </a:srgbClr>
            </a:outerShdw>
          </a:effectLst>
        </p:spPr>
      </p:sp>
      <p:sp>
        <p:nvSpPr>
          <p:cNvPr id="10" name="Shape 8"/>
          <p:cNvSpPr/>
          <p:nvPr/>
        </p:nvSpPr>
        <p:spPr>
          <a:xfrm>
            <a:off x="4267200" y="1463040"/>
            <a:ext cx="3657600" cy="97536"/>
          </a:xfrm>
          <a:prstGeom prst="rect">
            <a:avLst/>
          </a:prstGeom>
          <a:solidFill>
            <a:srgbClr val="C49A2A"/>
          </a:solidFill>
          <a:ln w="12700">
            <a:solidFill>
              <a:srgbClr val="C49A2A"/>
            </a:solidFill>
            <a:prstDash val="solid"/>
          </a:ln>
        </p:spPr>
      </p:sp>
      <p:sp>
        <p:nvSpPr>
          <p:cNvPr id="11" name="Text 9"/>
          <p:cNvSpPr/>
          <p:nvPr/>
        </p:nvSpPr>
        <p:spPr>
          <a:xfrm>
            <a:off x="4450080" y="1645920"/>
            <a:ext cx="3291840" cy="48768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Portability</a:t>
            </a:r>
            <a:endParaRPr lang="en-US" sz="1733" dirty="0"/>
          </a:p>
        </p:txBody>
      </p:sp>
      <p:sp>
        <p:nvSpPr>
          <p:cNvPr id="12" name="Text 10"/>
          <p:cNvSpPr/>
          <p:nvPr/>
        </p:nvSpPr>
        <p:spPr>
          <a:xfrm>
            <a:off x="4450080" y="2170176"/>
            <a:ext cx="3291840" cy="1036320"/>
          </a:xfrm>
          <a:prstGeom prst="rect">
            <a:avLst/>
          </a:prstGeom>
          <a:noFill/>
          <a:ln/>
        </p:spPr>
        <p:txBody>
          <a:bodyPr wrap="square" lIns="0" tIns="0" rIns="0" bIns="0" rtlCol="0" anchor="ctr"/>
          <a:lstStyle/>
          <a:p>
            <a:r>
              <a:rPr lang="en-US" sz="1467" dirty="0">
                <a:solidFill>
                  <a:srgbClr val="444444"/>
                </a:solidFill>
                <a:latin typeface="Calibri" pitchFamily="34" charset="0"/>
                <a:ea typeface="Calibri" pitchFamily="34" charset="-122"/>
                <a:cs typeface="Calibri" pitchFamily="34" charset="-120"/>
              </a:rPr>
              <a:t>Runs on multiple hardware platforms with minimal changes</a:t>
            </a:r>
            <a:endParaRPr lang="en-US" sz="1467" dirty="0"/>
          </a:p>
        </p:txBody>
      </p:sp>
      <p:sp>
        <p:nvSpPr>
          <p:cNvPr id="13" name="Shape 11"/>
          <p:cNvSpPr/>
          <p:nvPr/>
        </p:nvSpPr>
        <p:spPr>
          <a:xfrm>
            <a:off x="8168640" y="1463040"/>
            <a:ext cx="3657600" cy="2255520"/>
          </a:xfrm>
          <a:prstGeom prst="roundRect">
            <a:avLst>
              <a:gd name="adj" fmla="val 3243"/>
            </a:avLst>
          </a:prstGeom>
          <a:solidFill>
            <a:srgbClr val="F4F6FA"/>
          </a:solidFill>
          <a:ln w="6350">
            <a:solidFill>
              <a:srgbClr val="D8E0EE"/>
            </a:solidFill>
            <a:prstDash val="solid"/>
          </a:ln>
          <a:effectLst>
            <a:outerShdw blurRad="63500" dist="25400" dir="2700000" algn="bl" rotWithShape="0">
              <a:srgbClr val="000000">
                <a:alpha val="10000"/>
              </a:srgbClr>
            </a:outerShdw>
          </a:effectLst>
        </p:spPr>
      </p:sp>
      <p:sp>
        <p:nvSpPr>
          <p:cNvPr id="14" name="Shape 12"/>
          <p:cNvSpPr/>
          <p:nvPr/>
        </p:nvSpPr>
        <p:spPr>
          <a:xfrm>
            <a:off x="8168640" y="1463040"/>
            <a:ext cx="3657600" cy="97536"/>
          </a:xfrm>
          <a:prstGeom prst="rect">
            <a:avLst/>
          </a:prstGeom>
          <a:solidFill>
            <a:srgbClr val="C49A2A"/>
          </a:solidFill>
          <a:ln w="12700">
            <a:solidFill>
              <a:srgbClr val="C49A2A"/>
            </a:solidFill>
            <a:prstDash val="solid"/>
          </a:ln>
        </p:spPr>
      </p:sp>
      <p:sp>
        <p:nvSpPr>
          <p:cNvPr id="15" name="Text 13"/>
          <p:cNvSpPr/>
          <p:nvPr/>
        </p:nvSpPr>
        <p:spPr>
          <a:xfrm>
            <a:off x="8351520" y="1645920"/>
            <a:ext cx="3291840" cy="48768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Low-Level Access</a:t>
            </a:r>
            <a:endParaRPr lang="en-US" sz="1733" dirty="0"/>
          </a:p>
        </p:txBody>
      </p:sp>
      <p:sp>
        <p:nvSpPr>
          <p:cNvPr id="16" name="Text 14"/>
          <p:cNvSpPr/>
          <p:nvPr/>
        </p:nvSpPr>
        <p:spPr>
          <a:xfrm>
            <a:off x="8351520" y="2170176"/>
            <a:ext cx="3291840" cy="1036320"/>
          </a:xfrm>
          <a:prstGeom prst="rect">
            <a:avLst/>
          </a:prstGeom>
          <a:noFill/>
          <a:ln/>
        </p:spPr>
        <p:txBody>
          <a:bodyPr wrap="square" lIns="0" tIns="0" rIns="0" bIns="0" rtlCol="0" anchor="ctr"/>
          <a:lstStyle/>
          <a:p>
            <a:r>
              <a:rPr lang="en-US" sz="1467" dirty="0">
                <a:solidFill>
                  <a:srgbClr val="444444"/>
                </a:solidFill>
                <a:latin typeface="Calibri" pitchFamily="34" charset="0"/>
                <a:ea typeface="Calibri" pitchFamily="34" charset="-122"/>
                <a:cs typeface="Calibri" pitchFamily="34" charset="-120"/>
              </a:rPr>
              <a:t>Allows direct memory manipulation using pointers</a:t>
            </a:r>
            <a:endParaRPr lang="en-US" sz="1467" dirty="0"/>
          </a:p>
        </p:txBody>
      </p:sp>
      <p:sp>
        <p:nvSpPr>
          <p:cNvPr id="17" name="Shape 15"/>
          <p:cNvSpPr/>
          <p:nvPr/>
        </p:nvSpPr>
        <p:spPr>
          <a:xfrm>
            <a:off x="365760" y="3962400"/>
            <a:ext cx="3657600" cy="2255520"/>
          </a:xfrm>
          <a:prstGeom prst="roundRect">
            <a:avLst>
              <a:gd name="adj" fmla="val 3243"/>
            </a:avLst>
          </a:prstGeom>
          <a:solidFill>
            <a:srgbClr val="F4F6FA"/>
          </a:solidFill>
          <a:ln w="6350">
            <a:solidFill>
              <a:srgbClr val="D8E0EE"/>
            </a:solidFill>
            <a:prstDash val="solid"/>
          </a:ln>
          <a:effectLst>
            <a:outerShdw blurRad="63500" dist="25400" dir="2700000" algn="bl" rotWithShape="0">
              <a:srgbClr val="000000">
                <a:alpha val="10000"/>
              </a:srgbClr>
            </a:outerShdw>
          </a:effectLst>
        </p:spPr>
      </p:sp>
      <p:sp>
        <p:nvSpPr>
          <p:cNvPr id="18" name="Shape 16"/>
          <p:cNvSpPr/>
          <p:nvPr/>
        </p:nvSpPr>
        <p:spPr>
          <a:xfrm>
            <a:off x="365760" y="3962400"/>
            <a:ext cx="3657600" cy="97536"/>
          </a:xfrm>
          <a:prstGeom prst="rect">
            <a:avLst/>
          </a:prstGeom>
          <a:solidFill>
            <a:srgbClr val="C49A2A"/>
          </a:solidFill>
          <a:ln w="12700">
            <a:solidFill>
              <a:srgbClr val="C49A2A"/>
            </a:solidFill>
            <a:prstDash val="solid"/>
          </a:ln>
        </p:spPr>
      </p:sp>
      <p:sp>
        <p:nvSpPr>
          <p:cNvPr id="19" name="Text 17"/>
          <p:cNvSpPr/>
          <p:nvPr/>
        </p:nvSpPr>
        <p:spPr>
          <a:xfrm>
            <a:off x="548640" y="4145280"/>
            <a:ext cx="3291840" cy="48768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Rich Libraries</a:t>
            </a:r>
            <a:endParaRPr lang="en-US" sz="1733" dirty="0"/>
          </a:p>
        </p:txBody>
      </p:sp>
      <p:sp>
        <p:nvSpPr>
          <p:cNvPr id="20" name="Text 18"/>
          <p:cNvSpPr/>
          <p:nvPr/>
        </p:nvSpPr>
        <p:spPr>
          <a:xfrm>
            <a:off x="548640" y="4669536"/>
            <a:ext cx="3291840" cy="1036320"/>
          </a:xfrm>
          <a:prstGeom prst="rect">
            <a:avLst/>
          </a:prstGeom>
          <a:noFill/>
          <a:ln/>
        </p:spPr>
        <p:txBody>
          <a:bodyPr wrap="square" lIns="0" tIns="0" rIns="0" bIns="0" rtlCol="0" anchor="ctr"/>
          <a:lstStyle/>
          <a:p>
            <a:r>
              <a:rPr lang="en-US" sz="1467" dirty="0">
                <a:solidFill>
                  <a:srgbClr val="444444"/>
                </a:solidFill>
                <a:latin typeface="Calibri" pitchFamily="34" charset="0"/>
                <a:ea typeface="Calibri" pitchFamily="34" charset="-122"/>
                <a:cs typeface="Calibri" pitchFamily="34" charset="-120"/>
              </a:rPr>
              <a:t>Built-in functions for handling complex tasks</a:t>
            </a:r>
            <a:endParaRPr lang="en-US" sz="1467" dirty="0"/>
          </a:p>
        </p:txBody>
      </p:sp>
      <p:sp>
        <p:nvSpPr>
          <p:cNvPr id="21" name="Shape 19"/>
          <p:cNvSpPr/>
          <p:nvPr/>
        </p:nvSpPr>
        <p:spPr>
          <a:xfrm>
            <a:off x="4267200" y="3962400"/>
            <a:ext cx="3657600" cy="2255520"/>
          </a:xfrm>
          <a:prstGeom prst="roundRect">
            <a:avLst>
              <a:gd name="adj" fmla="val 3243"/>
            </a:avLst>
          </a:prstGeom>
          <a:solidFill>
            <a:srgbClr val="F4F6FA"/>
          </a:solidFill>
          <a:ln w="6350">
            <a:solidFill>
              <a:srgbClr val="D8E0EE"/>
            </a:solidFill>
            <a:prstDash val="solid"/>
          </a:ln>
          <a:effectLst>
            <a:outerShdw blurRad="63500" dist="25400" dir="2700000" algn="bl" rotWithShape="0">
              <a:srgbClr val="000000">
                <a:alpha val="10000"/>
              </a:srgbClr>
            </a:outerShdw>
          </a:effectLst>
        </p:spPr>
      </p:sp>
      <p:sp>
        <p:nvSpPr>
          <p:cNvPr id="22" name="Shape 20"/>
          <p:cNvSpPr/>
          <p:nvPr/>
        </p:nvSpPr>
        <p:spPr>
          <a:xfrm>
            <a:off x="4267200" y="3962400"/>
            <a:ext cx="3657600" cy="97536"/>
          </a:xfrm>
          <a:prstGeom prst="rect">
            <a:avLst/>
          </a:prstGeom>
          <a:solidFill>
            <a:srgbClr val="C49A2A"/>
          </a:solidFill>
          <a:ln w="12700">
            <a:solidFill>
              <a:srgbClr val="C49A2A"/>
            </a:solidFill>
            <a:prstDash val="solid"/>
          </a:ln>
        </p:spPr>
      </p:sp>
      <p:sp>
        <p:nvSpPr>
          <p:cNvPr id="23" name="Text 21"/>
          <p:cNvSpPr/>
          <p:nvPr/>
        </p:nvSpPr>
        <p:spPr>
          <a:xfrm>
            <a:off x="4450080" y="4145280"/>
            <a:ext cx="3291840" cy="48768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Modular Structure</a:t>
            </a:r>
            <a:endParaRPr lang="en-US" sz="1733" dirty="0"/>
          </a:p>
        </p:txBody>
      </p:sp>
      <p:sp>
        <p:nvSpPr>
          <p:cNvPr id="24" name="Text 22"/>
          <p:cNvSpPr/>
          <p:nvPr/>
        </p:nvSpPr>
        <p:spPr>
          <a:xfrm>
            <a:off x="4450080" y="4669536"/>
            <a:ext cx="3291840" cy="1036320"/>
          </a:xfrm>
          <a:prstGeom prst="rect">
            <a:avLst/>
          </a:prstGeom>
          <a:noFill/>
          <a:ln/>
        </p:spPr>
        <p:txBody>
          <a:bodyPr wrap="square" lIns="0" tIns="0" rIns="0" bIns="0" rtlCol="0" anchor="ctr"/>
          <a:lstStyle/>
          <a:p>
            <a:r>
              <a:rPr lang="en-US" sz="1467" dirty="0">
                <a:solidFill>
                  <a:srgbClr val="444444"/>
                </a:solidFill>
                <a:latin typeface="Calibri" pitchFamily="34" charset="0"/>
                <a:ea typeface="Calibri" pitchFamily="34" charset="-122"/>
                <a:cs typeface="Calibri" pitchFamily="34" charset="-120"/>
              </a:rPr>
              <a:t>Organizes code into reusable functions easily</a:t>
            </a:r>
            <a:endParaRPr lang="en-US" sz="1467" dirty="0"/>
          </a:p>
        </p:txBody>
      </p:sp>
      <p:sp>
        <p:nvSpPr>
          <p:cNvPr id="25" name="Shape 23"/>
          <p:cNvSpPr/>
          <p:nvPr/>
        </p:nvSpPr>
        <p:spPr>
          <a:xfrm>
            <a:off x="8168640" y="3962400"/>
            <a:ext cx="3657600" cy="2255520"/>
          </a:xfrm>
          <a:prstGeom prst="roundRect">
            <a:avLst>
              <a:gd name="adj" fmla="val 3243"/>
            </a:avLst>
          </a:prstGeom>
          <a:solidFill>
            <a:srgbClr val="F4F6FA"/>
          </a:solidFill>
          <a:ln w="6350">
            <a:solidFill>
              <a:srgbClr val="D8E0EE"/>
            </a:solidFill>
            <a:prstDash val="solid"/>
          </a:ln>
          <a:effectLst>
            <a:outerShdw blurRad="63500" dist="25400" dir="2700000" algn="bl" rotWithShape="0">
              <a:srgbClr val="000000">
                <a:alpha val="10000"/>
              </a:srgbClr>
            </a:outerShdw>
          </a:effectLst>
        </p:spPr>
      </p:sp>
      <p:sp>
        <p:nvSpPr>
          <p:cNvPr id="26" name="Shape 24"/>
          <p:cNvSpPr/>
          <p:nvPr/>
        </p:nvSpPr>
        <p:spPr>
          <a:xfrm>
            <a:off x="8168640" y="3962400"/>
            <a:ext cx="3657600" cy="97536"/>
          </a:xfrm>
          <a:prstGeom prst="rect">
            <a:avLst/>
          </a:prstGeom>
          <a:solidFill>
            <a:srgbClr val="C49A2A"/>
          </a:solidFill>
          <a:ln w="12700">
            <a:solidFill>
              <a:srgbClr val="C49A2A"/>
            </a:solidFill>
            <a:prstDash val="solid"/>
          </a:ln>
        </p:spPr>
      </p:sp>
      <p:sp>
        <p:nvSpPr>
          <p:cNvPr id="27" name="Text 25"/>
          <p:cNvSpPr/>
          <p:nvPr/>
        </p:nvSpPr>
        <p:spPr>
          <a:xfrm>
            <a:off x="8351520" y="4145280"/>
            <a:ext cx="3291840" cy="48768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Foundation Language</a:t>
            </a:r>
            <a:endParaRPr lang="en-US" sz="1733" dirty="0"/>
          </a:p>
        </p:txBody>
      </p:sp>
      <p:sp>
        <p:nvSpPr>
          <p:cNvPr id="28" name="Text 26"/>
          <p:cNvSpPr/>
          <p:nvPr/>
        </p:nvSpPr>
        <p:spPr>
          <a:xfrm>
            <a:off x="8351520" y="4669536"/>
            <a:ext cx="3291840" cy="1036320"/>
          </a:xfrm>
          <a:prstGeom prst="rect">
            <a:avLst/>
          </a:prstGeom>
          <a:noFill/>
          <a:ln/>
        </p:spPr>
        <p:txBody>
          <a:bodyPr wrap="square" lIns="0" tIns="0" rIns="0" bIns="0" rtlCol="0" anchor="ctr"/>
          <a:lstStyle/>
          <a:p>
            <a:r>
              <a:rPr lang="en-US" sz="1467" dirty="0">
                <a:solidFill>
                  <a:srgbClr val="444444"/>
                </a:solidFill>
                <a:latin typeface="Calibri" pitchFamily="34" charset="0"/>
                <a:ea typeface="Calibri" pitchFamily="34" charset="-122"/>
                <a:cs typeface="Calibri" pitchFamily="34" charset="-120"/>
              </a:rPr>
              <a:t>Basis for C++, Java, and Python</a:t>
            </a:r>
            <a:endParaRPr lang="en-US" sz="1467"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9832"/>
            <a:ext cx="12192000" cy="1219200"/>
          </a:xfrm>
          <a:prstGeom prst="rect">
            <a:avLst/>
          </a:prstGeom>
          <a:solidFill>
            <a:schemeClr val="bg2">
              <a:lumMod val="10000"/>
            </a:schemeClr>
          </a:solidFill>
          <a:ln w="12700">
            <a:solidFill>
              <a:srgbClr val="1B2A4A"/>
            </a:solidFill>
            <a:prstDash val="solid"/>
          </a:ln>
        </p:spPr>
      </p:sp>
      <p:sp>
        <p:nvSpPr>
          <p:cNvPr id="3" name="Shape 1"/>
          <p:cNvSpPr/>
          <p:nvPr/>
        </p:nvSpPr>
        <p:spPr>
          <a:xfrm>
            <a:off x="0" y="1146048"/>
            <a:ext cx="12192000" cy="73152"/>
          </a:xfrm>
          <a:prstGeom prst="rect">
            <a:avLst/>
          </a:prstGeom>
          <a:solidFill>
            <a:srgbClr val="C49A2A"/>
          </a:solidFill>
          <a:ln w="12700">
            <a:solidFill>
              <a:srgbClr val="C49A2A"/>
            </a:solidFill>
            <a:prstDash val="solid"/>
          </a:ln>
        </p:spPr>
      </p:sp>
      <p:sp>
        <p:nvSpPr>
          <p:cNvPr id="4" name="Text 2"/>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System Overview</a:t>
            </a:r>
            <a:endParaRPr lang="en-US" sz="3467" dirty="0"/>
          </a:p>
        </p:txBody>
      </p:sp>
      <p:sp>
        <p:nvSpPr>
          <p:cNvPr id="5" name="Shape 3"/>
          <p:cNvSpPr/>
          <p:nvPr/>
        </p:nvSpPr>
        <p:spPr>
          <a:xfrm>
            <a:off x="4267200" y="2438400"/>
            <a:ext cx="3657600" cy="1463040"/>
          </a:xfrm>
          <a:prstGeom prst="roundRect">
            <a:avLst>
              <a:gd name="adj" fmla="val 8333"/>
            </a:avLst>
          </a:prstGeom>
          <a:solidFill>
            <a:srgbClr val="1B2A4A"/>
          </a:solidFill>
          <a:ln w="25400">
            <a:solidFill>
              <a:srgbClr val="C49A2A"/>
            </a:solidFill>
            <a:prstDash val="solid"/>
          </a:ln>
        </p:spPr>
      </p:sp>
      <p:sp>
        <p:nvSpPr>
          <p:cNvPr id="6" name="Text 4"/>
          <p:cNvSpPr/>
          <p:nvPr/>
        </p:nvSpPr>
        <p:spPr>
          <a:xfrm>
            <a:off x="4267200" y="2438400"/>
            <a:ext cx="3657600" cy="1463040"/>
          </a:xfrm>
          <a:prstGeom prst="rect">
            <a:avLst/>
          </a:prstGeom>
          <a:noFill/>
          <a:ln/>
        </p:spPr>
        <p:txBody>
          <a:bodyPr wrap="square" rtlCol="0" anchor="ctr"/>
          <a:lstStyle/>
          <a:p>
            <a:pPr algn="ctr"/>
            <a:r>
              <a:rPr lang="en-US" sz="2133" b="1" dirty="0">
                <a:solidFill>
                  <a:srgbClr val="FFFFFF"/>
                </a:solidFill>
                <a:latin typeface="Cambria" pitchFamily="34" charset="0"/>
                <a:ea typeface="Cambria" pitchFamily="34" charset="-122"/>
                <a:cs typeface="Cambria" pitchFamily="34" charset="-120"/>
              </a:rPr>
              <a:t>CADD Hospital</a:t>
            </a:r>
          </a:p>
          <a:p>
            <a:pPr algn="ctr"/>
            <a:r>
              <a:rPr lang="en-US" sz="1600" b="1" dirty="0">
                <a:solidFill>
                  <a:srgbClr val="FFFFFF"/>
                </a:solidFill>
                <a:latin typeface="Cambria" pitchFamily="34" charset="0"/>
                <a:ea typeface="Cambria" pitchFamily="34" charset="-122"/>
              </a:rPr>
              <a:t>HOSPITAL MANAGEMENT SYSTEM</a:t>
            </a:r>
            <a:endParaRPr lang="en-US" sz="1600" dirty="0"/>
          </a:p>
        </p:txBody>
      </p:sp>
      <p:sp>
        <p:nvSpPr>
          <p:cNvPr id="7" name="Shape 5"/>
          <p:cNvSpPr/>
          <p:nvPr/>
        </p:nvSpPr>
        <p:spPr>
          <a:xfrm>
            <a:off x="365760" y="2560320"/>
            <a:ext cx="2804160" cy="1219200"/>
          </a:xfrm>
          <a:prstGeom prst="roundRect">
            <a:avLst>
              <a:gd name="adj" fmla="val 7000"/>
            </a:avLst>
          </a:prstGeom>
          <a:solidFill>
            <a:srgbClr val="1A6B8A"/>
          </a:solidFill>
          <a:ln w="12700">
            <a:solidFill>
              <a:srgbClr val="1A6B8A"/>
            </a:solidFill>
            <a:prstDash val="solid"/>
          </a:ln>
        </p:spPr>
      </p:sp>
      <p:sp>
        <p:nvSpPr>
          <p:cNvPr id="8" name="Text 6"/>
          <p:cNvSpPr/>
          <p:nvPr/>
        </p:nvSpPr>
        <p:spPr>
          <a:xfrm>
            <a:off x="365760" y="2560320"/>
            <a:ext cx="2804160" cy="1219200"/>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Patient</a:t>
            </a:r>
            <a:endParaRPr lang="en-US" sz="1733" dirty="0"/>
          </a:p>
          <a:p>
            <a:pPr algn="ctr"/>
            <a:r>
              <a:rPr lang="en-US" sz="1733" b="1" dirty="0">
                <a:solidFill>
                  <a:srgbClr val="FFFFFF"/>
                </a:solidFill>
                <a:latin typeface="Calibri" pitchFamily="34" charset="0"/>
                <a:ea typeface="Calibri" pitchFamily="34" charset="-122"/>
                <a:cs typeface="Calibri" pitchFamily="34" charset="-120"/>
              </a:rPr>
              <a:t>Module</a:t>
            </a:r>
            <a:endParaRPr lang="en-US" sz="1733" dirty="0"/>
          </a:p>
        </p:txBody>
      </p:sp>
      <p:sp>
        <p:nvSpPr>
          <p:cNvPr id="9" name="Shape 7"/>
          <p:cNvSpPr/>
          <p:nvPr/>
        </p:nvSpPr>
        <p:spPr>
          <a:xfrm>
            <a:off x="4876800" y="4998720"/>
            <a:ext cx="2804160" cy="1219200"/>
          </a:xfrm>
          <a:prstGeom prst="roundRect">
            <a:avLst>
              <a:gd name="adj" fmla="val 7000"/>
            </a:avLst>
          </a:prstGeom>
          <a:solidFill>
            <a:srgbClr val="2E7D5B"/>
          </a:solidFill>
          <a:ln w="12700">
            <a:solidFill>
              <a:srgbClr val="2E7D5B"/>
            </a:solidFill>
            <a:prstDash val="solid"/>
          </a:ln>
        </p:spPr>
      </p:sp>
      <p:sp>
        <p:nvSpPr>
          <p:cNvPr id="10" name="Text 8"/>
          <p:cNvSpPr/>
          <p:nvPr/>
        </p:nvSpPr>
        <p:spPr>
          <a:xfrm>
            <a:off x="4876800" y="4998720"/>
            <a:ext cx="2804160" cy="1219200"/>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Employee</a:t>
            </a:r>
            <a:endParaRPr lang="en-US" sz="1733" dirty="0"/>
          </a:p>
          <a:p>
            <a:pPr algn="ctr"/>
            <a:r>
              <a:rPr lang="en-US" sz="1733" b="1" dirty="0">
                <a:solidFill>
                  <a:srgbClr val="FFFFFF"/>
                </a:solidFill>
                <a:latin typeface="Calibri" pitchFamily="34" charset="0"/>
                <a:ea typeface="Calibri" pitchFamily="34" charset="-122"/>
                <a:cs typeface="Calibri" pitchFamily="34" charset="-120"/>
              </a:rPr>
              <a:t>Module</a:t>
            </a:r>
            <a:endParaRPr lang="en-US" sz="1733" dirty="0"/>
          </a:p>
        </p:txBody>
      </p:sp>
      <p:sp>
        <p:nvSpPr>
          <p:cNvPr id="11" name="Shape 9"/>
          <p:cNvSpPr/>
          <p:nvPr/>
        </p:nvSpPr>
        <p:spPr>
          <a:xfrm>
            <a:off x="9022080" y="2560320"/>
            <a:ext cx="2804160" cy="1219200"/>
          </a:xfrm>
          <a:prstGeom prst="roundRect">
            <a:avLst>
              <a:gd name="adj" fmla="val 7000"/>
            </a:avLst>
          </a:prstGeom>
          <a:solidFill>
            <a:srgbClr val="7B3F8E"/>
          </a:solidFill>
          <a:ln w="12700">
            <a:solidFill>
              <a:srgbClr val="7B3F8E"/>
            </a:solidFill>
            <a:prstDash val="solid"/>
          </a:ln>
        </p:spPr>
      </p:sp>
      <p:sp>
        <p:nvSpPr>
          <p:cNvPr id="12" name="Text 10"/>
          <p:cNvSpPr/>
          <p:nvPr/>
        </p:nvSpPr>
        <p:spPr>
          <a:xfrm>
            <a:off x="9022080" y="2560320"/>
            <a:ext cx="2804160" cy="1219200"/>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Admin</a:t>
            </a:r>
            <a:endParaRPr lang="en-US" sz="1733" dirty="0"/>
          </a:p>
          <a:p>
            <a:pPr algn="ctr"/>
            <a:r>
              <a:rPr lang="en-US" sz="1733" b="1" dirty="0">
                <a:solidFill>
                  <a:srgbClr val="FFFFFF"/>
                </a:solidFill>
                <a:latin typeface="Calibri" pitchFamily="34" charset="0"/>
                <a:ea typeface="Calibri" pitchFamily="34" charset="-122"/>
                <a:cs typeface="Calibri" pitchFamily="34" charset="-120"/>
              </a:rPr>
              <a:t>Module</a:t>
            </a:r>
            <a:endParaRPr lang="en-US" sz="1733" dirty="0"/>
          </a:p>
        </p:txBody>
      </p:sp>
      <p:sp>
        <p:nvSpPr>
          <p:cNvPr id="13" name="Shape 11"/>
          <p:cNvSpPr/>
          <p:nvPr/>
        </p:nvSpPr>
        <p:spPr>
          <a:xfrm>
            <a:off x="3169920" y="3169920"/>
            <a:ext cx="1097280" cy="0"/>
          </a:xfrm>
          <a:prstGeom prst="line">
            <a:avLst/>
          </a:prstGeom>
          <a:noFill/>
          <a:ln w="19050">
            <a:solidFill>
              <a:srgbClr val="1A6B8A"/>
            </a:solidFill>
            <a:prstDash val="dash"/>
          </a:ln>
        </p:spPr>
      </p:sp>
      <p:sp>
        <p:nvSpPr>
          <p:cNvPr id="14" name="Shape 12"/>
          <p:cNvSpPr/>
          <p:nvPr/>
        </p:nvSpPr>
        <p:spPr>
          <a:xfrm>
            <a:off x="6096000" y="3901440"/>
            <a:ext cx="0" cy="1097280"/>
          </a:xfrm>
          <a:prstGeom prst="line">
            <a:avLst/>
          </a:prstGeom>
          <a:noFill/>
          <a:ln w="19050">
            <a:solidFill>
              <a:srgbClr val="2E7D5B"/>
            </a:solidFill>
            <a:prstDash val="dash"/>
          </a:ln>
        </p:spPr>
      </p:sp>
      <p:sp>
        <p:nvSpPr>
          <p:cNvPr id="15" name="Shape 13"/>
          <p:cNvSpPr/>
          <p:nvPr/>
        </p:nvSpPr>
        <p:spPr>
          <a:xfrm>
            <a:off x="7924800" y="3169920"/>
            <a:ext cx="1097280" cy="0"/>
          </a:xfrm>
          <a:prstGeom prst="line">
            <a:avLst/>
          </a:prstGeom>
          <a:noFill/>
          <a:ln w="19050">
            <a:solidFill>
              <a:srgbClr val="7B3F8E"/>
            </a:solidFill>
            <a:prstDash val="dash"/>
          </a:ln>
        </p:spPr>
      </p:sp>
      <p:sp>
        <p:nvSpPr>
          <p:cNvPr id="16" name="Text 14"/>
          <p:cNvSpPr/>
          <p:nvPr/>
        </p:nvSpPr>
        <p:spPr>
          <a:xfrm>
            <a:off x="365760" y="4084320"/>
            <a:ext cx="11460480" cy="426720"/>
          </a:xfrm>
          <a:prstGeom prst="rect">
            <a:avLst/>
          </a:prstGeom>
          <a:noFill/>
          <a:ln/>
        </p:spPr>
        <p:txBody>
          <a:bodyPr wrap="square" rtlCol="0" anchor="ctr"/>
          <a:lstStyle/>
          <a:p>
            <a:r>
              <a:rPr lang="en-US" sz="1867" b="1" dirty="0">
                <a:solidFill>
                  <a:srgbClr val="1B2A4A"/>
                </a:solidFill>
                <a:latin typeface="Calibri" pitchFamily="34" charset="0"/>
                <a:ea typeface="Calibri" pitchFamily="34" charset="-122"/>
                <a:cs typeface="Calibri" pitchFamily="34" charset="-120"/>
              </a:rPr>
              <a:t>System Features</a:t>
            </a:r>
            <a:endParaRPr lang="en-US" sz="1867" dirty="0"/>
          </a:p>
        </p:txBody>
      </p:sp>
      <p:sp>
        <p:nvSpPr>
          <p:cNvPr id="17" name="Text 15"/>
          <p:cNvSpPr/>
          <p:nvPr/>
        </p:nvSpPr>
        <p:spPr>
          <a:xfrm>
            <a:off x="365760" y="4511040"/>
            <a:ext cx="11460480" cy="1828800"/>
          </a:xfrm>
          <a:prstGeom prst="rect">
            <a:avLst/>
          </a:prstGeom>
          <a:noFill/>
          <a:ln/>
        </p:spPr>
        <p:txBody>
          <a:bodyPr wrap="square" rtlCol="0" anchor="ctr"/>
          <a:lstStyle/>
          <a:p>
            <a:pPr marL="457189" indent="-457189">
              <a:buSzPct val="100000"/>
              <a:buChar char="•"/>
            </a:pPr>
            <a:r>
              <a:rPr lang="en-US" sz="1733" dirty="0">
                <a:solidFill>
                  <a:srgbClr val="333333"/>
                </a:solidFill>
                <a:latin typeface="Calibri" pitchFamily="34" charset="0"/>
                <a:ea typeface="Calibri" pitchFamily="34" charset="-122"/>
                <a:cs typeface="Calibri" pitchFamily="34" charset="-120"/>
              </a:rPr>
              <a:t>Role-based access control</a:t>
            </a:r>
            <a:endParaRPr lang="en-US" sz="1733" dirty="0"/>
          </a:p>
          <a:p>
            <a:pPr marL="457189" indent="-457189">
              <a:buSzPct val="100000"/>
              <a:buChar char="•"/>
            </a:pPr>
            <a:r>
              <a:rPr lang="en-US" sz="1733" dirty="0">
                <a:solidFill>
                  <a:srgbClr val="333333"/>
                </a:solidFill>
                <a:latin typeface="Calibri" pitchFamily="34" charset="0"/>
                <a:ea typeface="Calibri" pitchFamily="34" charset="-122"/>
                <a:cs typeface="Calibri" pitchFamily="34" charset="-120"/>
              </a:rPr>
              <a:t>Department routing by symptoms</a:t>
            </a:r>
            <a:endParaRPr lang="en-US" sz="1733" dirty="0"/>
          </a:p>
          <a:p>
            <a:pPr marL="457189" indent="-457189">
              <a:buSzPct val="100000"/>
              <a:buChar char="•"/>
            </a:pPr>
            <a:r>
              <a:rPr lang="en-US" sz="1733" dirty="0">
                <a:solidFill>
                  <a:srgbClr val="333333"/>
                </a:solidFill>
                <a:latin typeface="Calibri" pitchFamily="34" charset="0"/>
                <a:ea typeface="Calibri" pitchFamily="34" charset="-122"/>
                <a:cs typeface="Calibri" pitchFamily="34" charset="-120"/>
              </a:rPr>
              <a:t>Employee &amp; leave management</a:t>
            </a:r>
            <a:endParaRPr lang="en-US" sz="1733" dirty="0"/>
          </a:p>
          <a:p>
            <a:pPr marL="457189" indent="-457189">
              <a:buSzPct val="100000"/>
              <a:buChar char="•"/>
            </a:pPr>
            <a:r>
              <a:rPr lang="en-US" sz="1733" dirty="0">
                <a:solidFill>
                  <a:srgbClr val="333333"/>
                </a:solidFill>
                <a:latin typeface="Calibri" pitchFamily="34" charset="0"/>
                <a:ea typeface="Calibri" pitchFamily="34" charset="-122"/>
                <a:cs typeface="Calibri" pitchFamily="34" charset="-120"/>
              </a:rPr>
              <a:t>File-based record storage</a:t>
            </a:r>
            <a:endParaRPr lang="en-US" sz="1733" dirty="0"/>
          </a:p>
          <a:p>
            <a:pPr marL="457189" indent="-457189">
              <a:buSzPct val="100000"/>
              <a:buChar char="•"/>
            </a:pPr>
            <a:r>
              <a:rPr lang="en-US" sz="1733" dirty="0">
                <a:solidFill>
                  <a:srgbClr val="333333"/>
                </a:solidFill>
                <a:latin typeface="Calibri" pitchFamily="34" charset="0"/>
                <a:ea typeface="Calibri" pitchFamily="34" charset="-122"/>
                <a:cs typeface="Calibri" pitchFamily="34" charset="-120"/>
              </a:rPr>
              <a:t>Real-time admin dashboard</a:t>
            </a:r>
            <a:endParaRPr lang="en-US" sz="1733"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38370840-C496-62DD-9CB8-75C4AFF14D30}"/>
              </a:ext>
            </a:extLst>
          </p:cNvPr>
          <p:cNvPicPr>
            <a:picLocks noChangeAspect="1"/>
          </p:cNvPicPr>
          <p:nvPr/>
        </p:nvPicPr>
        <p:blipFill>
          <a:blip r:embed="rId2"/>
          <a:stretch>
            <a:fillRect/>
          </a:stretch>
        </p:blipFill>
        <p:spPr>
          <a:xfrm>
            <a:off x="569927" y="447908"/>
            <a:ext cx="6381480" cy="3091706"/>
          </a:xfrm>
          <a:prstGeom prst="rect">
            <a:avLst/>
          </a:prstGeom>
        </p:spPr>
      </p:pic>
      <p:pic>
        <p:nvPicPr>
          <p:cNvPr id="3" name="Picture 2">
            <a:extLst>
              <a:ext uri="{FF2B5EF4-FFF2-40B4-BE49-F238E27FC236}">
                <a16:creationId xmlns:a16="http://schemas.microsoft.com/office/drawing/2014/main" id="{5928D134-6DC6-F346-F52B-E148CDBB6C52}"/>
              </a:ext>
            </a:extLst>
          </p:cNvPr>
          <p:cNvPicPr>
            <a:picLocks noChangeAspect="1"/>
          </p:cNvPicPr>
          <p:nvPr/>
        </p:nvPicPr>
        <p:blipFill>
          <a:blip r:embed="rId3"/>
          <a:stretch>
            <a:fillRect/>
          </a:stretch>
        </p:blipFill>
        <p:spPr>
          <a:xfrm>
            <a:off x="569927" y="3809461"/>
            <a:ext cx="6381480" cy="2836606"/>
          </a:xfrm>
          <a:prstGeom prst="rect">
            <a:avLst/>
          </a:prstGeom>
        </p:spPr>
      </p:pic>
      <p:sp>
        <p:nvSpPr>
          <p:cNvPr id="4" name="TextBox 3">
            <a:extLst>
              <a:ext uri="{FF2B5EF4-FFF2-40B4-BE49-F238E27FC236}">
                <a16:creationId xmlns:a16="http://schemas.microsoft.com/office/drawing/2014/main" id="{97D7B753-F3E9-0944-F378-21229DDF006D}"/>
              </a:ext>
            </a:extLst>
          </p:cNvPr>
          <p:cNvSpPr txBox="1"/>
          <p:nvPr/>
        </p:nvSpPr>
        <p:spPr>
          <a:xfrm>
            <a:off x="7787492" y="1166842"/>
            <a:ext cx="3834581" cy="4524315"/>
          </a:xfrm>
          <a:prstGeom prst="rect">
            <a:avLst/>
          </a:prstGeom>
          <a:noFill/>
        </p:spPr>
        <p:txBody>
          <a:bodyPr wrap="square" rtlCol="0">
            <a:spAutoFit/>
          </a:bodyPr>
          <a:lstStyle/>
          <a:p>
            <a:r>
              <a:rPr lang="en-US" sz="2400" dirty="0"/>
              <a:t>This module identifies the role of the user accessing the Hospital Management System and directs them to the appropriate section. It enables patients, employees, and administrators to access services relevant to their needs, ensuring efficient and organized management.</a:t>
            </a:r>
            <a:endParaRPr lang="en-IN" sz="2400" dirty="0"/>
          </a:p>
        </p:txBody>
      </p:sp>
    </p:spTree>
    <p:extLst>
      <p:ext uri="{BB962C8B-B14F-4D97-AF65-F5344CB8AC3E}">
        <p14:creationId xmlns:p14="http://schemas.microsoft.com/office/powerpoint/2010/main" val="620216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E75498-BD0D-76C1-DBC1-67B620BC5F5C}"/>
              </a:ext>
            </a:extLst>
          </p:cNvPr>
          <p:cNvSpPr txBox="1"/>
          <p:nvPr/>
        </p:nvSpPr>
        <p:spPr>
          <a:xfrm>
            <a:off x="4503175" y="2428568"/>
            <a:ext cx="4257367" cy="2308324"/>
          </a:xfrm>
          <a:prstGeom prst="rect">
            <a:avLst/>
          </a:prstGeom>
          <a:noFill/>
        </p:spPr>
        <p:txBody>
          <a:bodyPr wrap="square" rtlCol="0">
            <a:spAutoFit/>
          </a:bodyPr>
          <a:lstStyle/>
          <a:p>
            <a:r>
              <a:rPr lang="en-US" sz="4800" dirty="0">
                <a:solidFill>
                  <a:srgbClr val="FF9900"/>
                </a:solidFill>
                <a:latin typeface="Aparajita" panose="02020603050405020304" pitchFamily="18" charset="0"/>
                <a:cs typeface="Aparajita" panose="02020603050405020304" pitchFamily="18" charset="0"/>
              </a:rPr>
              <a:t>PATIENT </a:t>
            </a:r>
          </a:p>
          <a:p>
            <a:endParaRPr lang="en-US" sz="4800" dirty="0">
              <a:solidFill>
                <a:srgbClr val="FF9900"/>
              </a:solidFill>
              <a:latin typeface="Aparajita" panose="02020603050405020304" pitchFamily="18" charset="0"/>
              <a:cs typeface="Aparajita" panose="02020603050405020304" pitchFamily="18" charset="0"/>
            </a:endParaRPr>
          </a:p>
          <a:p>
            <a:r>
              <a:rPr lang="en-US" sz="4800" dirty="0">
                <a:solidFill>
                  <a:srgbClr val="FF9900"/>
                </a:solidFill>
                <a:latin typeface="Aparajita" panose="02020603050405020304" pitchFamily="18" charset="0"/>
                <a:cs typeface="Aparajita" panose="02020603050405020304" pitchFamily="18" charset="0"/>
              </a:rPr>
              <a:t>(CASE 1)</a:t>
            </a:r>
            <a:endParaRPr lang="en-IN" sz="4800" dirty="0">
              <a:solidFill>
                <a:srgbClr val="FF9900"/>
              </a:solidFill>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3929495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55F15-E649-ECEF-81AF-F67FD730633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7F1FDDF-7777-2BEE-68EF-1F162C98022F}"/>
              </a:ext>
            </a:extLst>
          </p:cNvPr>
          <p:cNvSpPr/>
          <p:nvPr/>
        </p:nvSpPr>
        <p:spPr>
          <a:xfrm>
            <a:off x="0" y="-16543"/>
            <a:ext cx="12192000" cy="589935"/>
          </a:xfrm>
          <a:prstGeom prst="rect">
            <a:avLst/>
          </a:prstGeom>
          <a:solidFill>
            <a:srgbClr val="1A6B8A"/>
          </a:solidFill>
          <a:ln w="12700">
            <a:solidFill>
              <a:srgbClr val="1A6B8A"/>
            </a:solidFill>
            <a:prstDash val="solid"/>
          </a:ln>
        </p:spPr>
      </p:sp>
      <p:sp>
        <p:nvSpPr>
          <p:cNvPr id="4" name="Text 2">
            <a:extLst>
              <a:ext uri="{FF2B5EF4-FFF2-40B4-BE49-F238E27FC236}">
                <a16:creationId xmlns:a16="http://schemas.microsoft.com/office/drawing/2014/main" id="{F2F1A7D6-FA92-52FF-39CE-B6A60D374BC7}"/>
              </a:ext>
            </a:extLst>
          </p:cNvPr>
          <p:cNvSpPr/>
          <p:nvPr/>
        </p:nvSpPr>
        <p:spPr>
          <a:xfrm>
            <a:off x="251706" y="-127891"/>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Patient Module</a:t>
            </a:r>
            <a:endParaRPr lang="en-US" sz="3467" dirty="0"/>
          </a:p>
        </p:txBody>
      </p:sp>
      <p:sp>
        <p:nvSpPr>
          <p:cNvPr id="6" name="Text 4">
            <a:extLst>
              <a:ext uri="{FF2B5EF4-FFF2-40B4-BE49-F238E27FC236}">
                <a16:creationId xmlns:a16="http://schemas.microsoft.com/office/drawing/2014/main" id="{7C1FB048-4CD7-F419-38E4-9D1F0712E8D7}"/>
              </a:ext>
            </a:extLst>
          </p:cNvPr>
          <p:cNvSpPr/>
          <p:nvPr/>
        </p:nvSpPr>
        <p:spPr>
          <a:xfrm>
            <a:off x="609600" y="1524000"/>
            <a:ext cx="4876800" cy="487680"/>
          </a:xfrm>
          <a:prstGeom prst="rect">
            <a:avLst/>
          </a:prstGeom>
          <a:noFill/>
          <a:ln/>
        </p:spPr>
        <p:txBody>
          <a:bodyPr wrap="square" rtlCol="0" anchor="ctr"/>
          <a:lstStyle/>
          <a:p>
            <a:endParaRPr lang="en-US" sz="1733" dirty="0"/>
          </a:p>
        </p:txBody>
      </p:sp>
      <p:sp>
        <p:nvSpPr>
          <p:cNvPr id="8" name="Text 6">
            <a:extLst>
              <a:ext uri="{FF2B5EF4-FFF2-40B4-BE49-F238E27FC236}">
                <a16:creationId xmlns:a16="http://schemas.microsoft.com/office/drawing/2014/main" id="{3D3CCB65-8A6D-E7C0-0BF7-94993A2C45F4}"/>
              </a:ext>
            </a:extLst>
          </p:cNvPr>
          <p:cNvSpPr/>
          <p:nvPr/>
        </p:nvSpPr>
        <p:spPr>
          <a:xfrm>
            <a:off x="609600" y="5364480"/>
            <a:ext cx="4876800" cy="731520"/>
          </a:xfrm>
          <a:prstGeom prst="rect">
            <a:avLst/>
          </a:prstGeom>
          <a:noFill/>
          <a:ln/>
        </p:spPr>
        <p:txBody>
          <a:bodyPr wrap="square" rtlCol="0" anchor="ctr"/>
          <a:lstStyle/>
          <a:p>
            <a:endParaRPr lang="en-US" sz="1333" dirty="0"/>
          </a:p>
        </p:txBody>
      </p:sp>
      <p:pic>
        <p:nvPicPr>
          <p:cNvPr id="41" name="Picture 40">
            <a:extLst>
              <a:ext uri="{FF2B5EF4-FFF2-40B4-BE49-F238E27FC236}">
                <a16:creationId xmlns:a16="http://schemas.microsoft.com/office/drawing/2014/main" id="{849B905B-089A-9044-B329-673DE6501DE6}"/>
              </a:ext>
            </a:extLst>
          </p:cNvPr>
          <p:cNvPicPr>
            <a:picLocks noChangeAspect="1"/>
          </p:cNvPicPr>
          <p:nvPr/>
        </p:nvPicPr>
        <p:blipFill>
          <a:blip r:embed="rId3"/>
          <a:stretch>
            <a:fillRect/>
          </a:stretch>
        </p:blipFill>
        <p:spPr>
          <a:xfrm>
            <a:off x="208996" y="1606682"/>
            <a:ext cx="11774008" cy="4795021"/>
          </a:xfrm>
          <a:prstGeom prst="rect">
            <a:avLst/>
          </a:prstGeom>
        </p:spPr>
      </p:pic>
      <p:sp>
        <p:nvSpPr>
          <p:cNvPr id="34" name="TextBox 33">
            <a:extLst>
              <a:ext uri="{FF2B5EF4-FFF2-40B4-BE49-F238E27FC236}">
                <a16:creationId xmlns:a16="http://schemas.microsoft.com/office/drawing/2014/main" id="{3C6855A1-4DD4-BFF2-29F8-76CDE918C95F}"/>
              </a:ext>
            </a:extLst>
          </p:cNvPr>
          <p:cNvSpPr txBox="1"/>
          <p:nvPr/>
        </p:nvSpPr>
        <p:spPr>
          <a:xfrm>
            <a:off x="2197487" y="812470"/>
            <a:ext cx="6577826" cy="646331"/>
          </a:xfrm>
          <a:prstGeom prst="rect">
            <a:avLst/>
          </a:prstGeom>
          <a:noFill/>
        </p:spPr>
        <p:txBody>
          <a:bodyPr wrap="none" rtlCol="0">
            <a:spAutoFit/>
          </a:bodyPr>
          <a:lstStyle/>
          <a:p>
            <a:r>
              <a:rPr lang="en-US" dirty="0"/>
              <a:t>This module records the patient's details and symptoms, </a:t>
            </a:r>
          </a:p>
          <a:p>
            <a:r>
              <a:rPr lang="en-US" dirty="0"/>
              <a:t>enabling efficient patient registration and department allocation.</a:t>
            </a:r>
            <a:endParaRPr lang="en-IN" dirty="0"/>
          </a:p>
        </p:txBody>
      </p:sp>
      <p:sp>
        <p:nvSpPr>
          <p:cNvPr id="35" name="TextBox 34">
            <a:extLst>
              <a:ext uri="{FF2B5EF4-FFF2-40B4-BE49-F238E27FC236}">
                <a16:creationId xmlns:a16="http://schemas.microsoft.com/office/drawing/2014/main" id="{96001042-8E07-0E4A-09A3-A25EE963519E}"/>
              </a:ext>
            </a:extLst>
          </p:cNvPr>
          <p:cNvSpPr txBox="1"/>
          <p:nvPr/>
        </p:nvSpPr>
        <p:spPr>
          <a:xfrm>
            <a:off x="8996516" y="691884"/>
            <a:ext cx="2292935" cy="923330"/>
          </a:xfrm>
          <a:prstGeom prst="rect">
            <a:avLst/>
          </a:prstGeom>
          <a:noFill/>
        </p:spPr>
        <p:txBody>
          <a:bodyPr wrap="none" rtlCol="0">
            <a:spAutoFit/>
          </a:bodyPr>
          <a:lstStyle/>
          <a:p>
            <a:r>
              <a:rPr lang="en-US" dirty="0">
                <a:solidFill>
                  <a:schemeClr val="bg1">
                    <a:lumMod val="95000"/>
                  </a:schemeClr>
                </a:solidFill>
                <a:highlight>
                  <a:srgbClr val="000000"/>
                </a:highlight>
              </a:rPr>
              <a:t>USING SCANF TO </a:t>
            </a:r>
          </a:p>
          <a:p>
            <a:r>
              <a:rPr lang="en-US" dirty="0">
                <a:solidFill>
                  <a:schemeClr val="bg1">
                    <a:lumMod val="95000"/>
                  </a:schemeClr>
                </a:solidFill>
                <a:highlight>
                  <a:srgbClr val="000000"/>
                </a:highlight>
              </a:rPr>
              <a:t>RECORD AND STORE</a:t>
            </a:r>
          </a:p>
          <a:p>
            <a:r>
              <a:rPr lang="en-US" dirty="0">
                <a:solidFill>
                  <a:schemeClr val="bg1">
                    <a:lumMod val="95000"/>
                  </a:schemeClr>
                </a:solidFill>
                <a:highlight>
                  <a:srgbClr val="000000"/>
                </a:highlight>
              </a:rPr>
              <a:t> THE DETAILS</a:t>
            </a:r>
            <a:endParaRPr lang="en-IN" dirty="0">
              <a:solidFill>
                <a:schemeClr val="bg1">
                  <a:lumMod val="95000"/>
                </a:schemeClr>
              </a:solidFill>
              <a:highlight>
                <a:srgbClr val="000000"/>
              </a:highlight>
            </a:endParaRPr>
          </a:p>
        </p:txBody>
      </p:sp>
    </p:spTree>
    <p:extLst>
      <p:ext uri="{BB962C8B-B14F-4D97-AF65-F5344CB8AC3E}">
        <p14:creationId xmlns:p14="http://schemas.microsoft.com/office/powerpoint/2010/main" val="2120355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A6B8A"/>
          </a:solidFill>
          <a:ln w="12700">
            <a:solidFill>
              <a:srgbClr val="1A6B8A"/>
            </a:solidFill>
            <a:prstDash val="solid"/>
          </a:ln>
        </p:spPr>
      </p:sp>
      <p:sp>
        <p:nvSpPr>
          <p:cNvPr id="3" name="Shape 1"/>
          <p:cNvSpPr/>
          <p:nvPr/>
        </p:nvSpPr>
        <p:spPr>
          <a:xfrm>
            <a:off x="0" y="1146048"/>
            <a:ext cx="12192000" cy="73152"/>
          </a:xfrm>
          <a:prstGeom prst="rect">
            <a:avLst/>
          </a:prstGeom>
          <a:solidFill>
            <a:srgbClr val="C49A2A"/>
          </a:solidFill>
          <a:ln w="12700">
            <a:solidFill>
              <a:srgbClr val="C49A2A"/>
            </a:solidFill>
            <a:prstDash val="solid"/>
          </a:ln>
        </p:spPr>
      </p:sp>
      <p:sp>
        <p:nvSpPr>
          <p:cNvPr id="4" name="Text 2"/>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Patient Module</a:t>
            </a:r>
            <a:endParaRPr lang="en-US" sz="3467" dirty="0"/>
          </a:p>
        </p:txBody>
      </p:sp>
      <p:pic>
        <p:nvPicPr>
          <p:cNvPr id="45" name="Picture 44">
            <a:extLst>
              <a:ext uri="{FF2B5EF4-FFF2-40B4-BE49-F238E27FC236}">
                <a16:creationId xmlns:a16="http://schemas.microsoft.com/office/drawing/2014/main" id="{CC458B5B-5977-EEF2-C440-E6D6AB5DC453}"/>
              </a:ext>
            </a:extLst>
          </p:cNvPr>
          <p:cNvPicPr>
            <a:picLocks noChangeAspect="1"/>
          </p:cNvPicPr>
          <p:nvPr/>
        </p:nvPicPr>
        <p:blipFill>
          <a:blip r:embed="rId3">
            <a:extLst>
              <a:ext uri="{28A0092B-C50C-407E-A947-70E740481C1C}">
                <a14:useLocalDpi xmlns:a14="http://schemas.microsoft.com/office/drawing/2010/main" val="0"/>
              </a:ext>
            </a:extLst>
          </a:blip>
          <a:srcRect t="29371" b="14063"/>
          <a:stretch>
            <a:fillRect/>
          </a:stretch>
        </p:blipFill>
        <p:spPr>
          <a:xfrm>
            <a:off x="0" y="1617997"/>
            <a:ext cx="12192000" cy="417320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A6B8A"/>
          </a:solidFill>
          <a:ln w="12700">
            <a:solidFill>
              <a:srgbClr val="1A6B8A"/>
            </a:solidFill>
            <a:prstDash val="solid"/>
          </a:ln>
        </p:spPr>
        <p:txBody>
          <a:bodyPr/>
          <a:lstStyle/>
          <a:p>
            <a:endParaRPr lang="en-IN" dirty="0"/>
          </a:p>
        </p:txBody>
      </p:sp>
      <p:sp>
        <p:nvSpPr>
          <p:cNvPr id="4" name="Text 2"/>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Patient Module</a:t>
            </a:r>
            <a:endParaRPr lang="en-US" sz="3467" dirty="0"/>
          </a:p>
        </p:txBody>
      </p:sp>
      <p:pic>
        <p:nvPicPr>
          <p:cNvPr id="35" name="Picture 34">
            <a:extLst>
              <a:ext uri="{FF2B5EF4-FFF2-40B4-BE49-F238E27FC236}">
                <a16:creationId xmlns:a16="http://schemas.microsoft.com/office/drawing/2014/main" id="{AEE094B1-1174-A024-19BB-EC1A088551AE}"/>
              </a:ext>
            </a:extLst>
          </p:cNvPr>
          <p:cNvPicPr>
            <a:picLocks noChangeAspect="1"/>
          </p:cNvPicPr>
          <p:nvPr/>
        </p:nvPicPr>
        <p:blipFill>
          <a:blip r:embed="rId3">
            <a:extLst>
              <a:ext uri="{28A0092B-C50C-407E-A947-70E740481C1C}">
                <a14:useLocalDpi xmlns:a14="http://schemas.microsoft.com/office/drawing/2010/main" val="0"/>
              </a:ext>
            </a:extLst>
          </a:blip>
          <a:srcRect l="56774" t="37685" r="9758" b="5844"/>
          <a:stretch>
            <a:fillRect/>
          </a:stretch>
        </p:blipFill>
        <p:spPr>
          <a:xfrm>
            <a:off x="487680" y="1347019"/>
            <a:ext cx="5879691" cy="5073445"/>
          </a:xfrm>
          <a:prstGeom prst="rect">
            <a:avLst/>
          </a:prstGeom>
        </p:spPr>
      </p:pic>
      <p:pic>
        <p:nvPicPr>
          <p:cNvPr id="37" name="Picture 36">
            <a:extLst>
              <a:ext uri="{FF2B5EF4-FFF2-40B4-BE49-F238E27FC236}">
                <a16:creationId xmlns:a16="http://schemas.microsoft.com/office/drawing/2014/main" id="{EF2C19E5-716C-64D1-B5D9-0F6A70953C09}"/>
              </a:ext>
            </a:extLst>
          </p:cNvPr>
          <p:cNvPicPr>
            <a:picLocks noChangeAspect="1"/>
          </p:cNvPicPr>
          <p:nvPr/>
        </p:nvPicPr>
        <p:blipFill>
          <a:blip r:embed="rId4"/>
          <a:stretch>
            <a:fillRect/>
          </a:stretch>
        </p:blipFill>
        <p:spPr>
          <a:xfrm>
            <a:off x="6898314" y="1347019"/>
            <a:ext cx="4575931" cy="5291525"/>
          </a:xfrm>
          <a:prstGeom prst="rect">
            <a:avLst/>
          </a:prstGeom>
        </p:spPr>
      </p:pic>
      <p:sp>
        <p:nvSpPr>
          <p:cNvPr id="38" name="TextBox 37">
            <a:extLst>
              <a:ext uri="{FF2B5EF4-FFF2-40B4-BE49-F238E27FC236}">
                <a16:creationId xmlns:a16="http://schemas.microsoft.com/office/drawing/2014/main" id="{86D228D3-01DE-9E42-50BF-E1A9BB1B5A35}"/>
              </a:ext>
            </a:extLst>
          </p:cNvPr>
          <p:cNvSpPr txBox="1"/>
          <p:nvPr/>
        </p:nvSpPr>
        <p:spPr>
          <a:xfrm>
            <a:off x="4014512" y="1347019"/>
            <a:ext cx="2753032" cy="338554"/>
          </a:xfrm>
          <a:prstGeom prst="rect">
            <a:avLst/>
          </a:prstGeom>
          <a:noFill/>
        </p:spPr>
        <p:txBody>
          <a:bodyPr wrap="square" rtlCol="0">
            <a:spAutoFit/>
          </a:bodyPr>
          <a:lstStyle/>
          <a:p>
            <a:r>
              <a:rPr lang="en-US" sz="1600" dirty="0">
                <a:solidFill>
                  <a:schemeClr val="bg1">
                    <a:lumMod val="95000"/>
                  </a:schemeClr>
                </a:solidFill>
                <a:highlight>
                  <a:srgbClr val="000000"/>
                </a:highlight>
              </a:rPr>
              <a:t>BY IF-ELSE </a:t>
            </a:r>
            <a:r>
              <a:rPr lang="en-US" sz="1600" dirty="0" err="1">
                <a:solidFill>
                  <a:schemeClr val="bg1">
                    <a:lumMod val="95000"/>
                  </a:schemeClr>
                </a:solidFill>
                <a:highlight>
                  <a:srgbClr val="000000"/>
                </a:highlight>
              </a:rPr>
              <a:t>IF-ELSE</a:t>
            </a:r>
            <a:r>
              <a:rPr lang="en-US" sz="1600" dirty="0">
                <a:solidFill>
                  <a:schemeClr val="bg1">
                    <a:lumMod val="95000"/>
                  </a:schemeClr>
                </a:solidFill>
                <a:highlight>
                  <a:srgbClr val="000000"/>
                </a:highlight>
              </a:rPr>
              <a:t> BLOCK</a:t>
            </a:r>
            <a:endParaRPr lang="en-IN" sz="1600" dirty="0">
              <a:solidFill>
                <a:schemeClr val="bg1">
                  <a:lumMod val="95000"/>
                </a:schemeClr>
              </a:solidFill>
              <a:highlight>
                <a:srgbClr val="000000"/>
              </a:high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7B36C8-248B-55B3-882A-E1726885455D}"/>
              </a:ext>
            </a:extLst>
          </p:cNvPr>
          <p:cNvPicPr>
            <a:picLocks noChangeAspect="1"/>
          </p:cNvPicPr>
          <p:nvPr/>
        </p:nvPicPr>
        <p:blipFill>
          <a:blip r:embed="rId2"/>
          <a:stretch>
            <a:fillRect/>
          </a:stretch>
        </p:blipFill>
        <p:spPr>
          <a:xfrm>
            <a:off x="501418" y="1007095"/>
            <a:ext cx="6845673" cy="2920181"/>
          </a:xfrm>
          <a:prstGeom prst="rect">
            <a:avLst/>
          </a:prstGeom>
        </p:spPr>
      </p:pic>
      <p:pic>
        <p:nvPicPr>
          <p:cNvPr id="5" name="Picture 4">
            <a:extLst>
              <a:ext uri="{FF2B5EF4-FFF2-40B4-BE49-F238E27FC236}">
                <a16:creationId xmlns:a16="http://schemas.microsoft.com/office/drawing/2014/main" id="{CE53F2F2-5FE3-F889-7971-1C58A8BFDD1D}"/>
              </a:ext>
            </a:extLst>
          </p:cNvPr>
          <p:cNvPicPr>
            <a:picLocks noChangeAspect="1"/>
          </p:cNvPicPr>
          <p:nvPr/>
        </p:nvPicPr>
        <p:blipFill>
          <a:blip r:embed="rId3"/>
          <a:stretch>
            <a:fillRect/>
          </a:stretch>
        </p:blipFill>
        <p:spPr>
          <a:xfrm>
            <a:off x="501418" y="4271404"/>
            <a:ext cx="6845673" cy="2248095"/>
          </a:xfrm>
          <a:prstGeom prst="rect">
            <a:avLst/>
          </a:prstGeom>
        </p:spPr>
      </p:pic>
      <p:sp>
        <p:nvSpPr>
          <p:cNvPr id="6" name="TextBox 5">
            <a:extLst>
              <a:ext uri="{FF2B5EF4-FFF2-40B4-BE49-F238E27FC236}">
                <a16:creationId xmlns:a16="http://schemas.microsoft.com/office/drawing/2014/main" id="{882ADAF6-135F-ABBE-4C02-01D7EB5AC88D}"/>
              </a:ext>
            </a:extLst>
          </p:cNvPr>
          <p:cNvSpPr txBox="1"/>
          <p:nvPr/>
        </p:nvSpPr>
        <p:spPr>
          <a:xfrm>
            <a:off x="8375006" y="2111394"/>
            <a:ext cx="2878673" cy="1815882"/>
          </a:xfrm>
          <a:prstGeom prst="rect">
            <a:avLst/>
          </a:prstGeom>
          <a:noFill/>
        </p:spPr>
        <p:txBody>
          <a:bodyPr wrap="none" rtlCol="0">
            <a:spAutoFit/>
          </a:bodyPr>
          <a:lstStyle/>
          <a:p>
            <a:r>
              <a:rPr lang="en-IN" sz="2800" dirty="0"/>
              <a:t>Stored data is</a:t>
            </a:r>
          </a:p>
          <a:p>
            <a:r>
              <a:rPr lang="en-IN" sz="2800" dirty="0"/>
              <a:t>presented</a:t>
            </a:r>
          </a:p>
          <a:p>
            <a:r>
              <a:rPr lang="en-IN" sz="2800" dirty="0"/>
              <a:t>in a summarized </a:t>
            </a:r>
          </a:p>
          <a:p>
            <a:r>
              <a:rPr lang="en-IN" sz="2800" dirty="0"/>
              <a:t>format</a:t>
            </a:r>
          </a:p>
        </p:txBody>
      </p:sp>
      <p:sp>
        <p:nvSpPr>
          <p:cNvPr id="7" name="Shape 0">
            <a:extLst>
              <a:ext uri="{FF2B5EF4-FFF2-40B4-BE49-F238E27FC236}">
                <a16:creationId xmlns:a16="http://schemas.microsoft.com/office/drawing/2014/main" id="{D3CA669F-91F7-266C-83AE-937F95A47E8D}"/>
              </a:ext>
            </a:extLst>
          </p:cNvPr>
          <p:cNvSpPr/>
          <p:nvPr/>
        </p:nvSpPr>
        <p:spPr>
          <a:xfrm>
            <a:off x="0" y="1"/>
            <a:ext cx="12192000" cy="662966"/>
          </a:xfrm>
          <a:prstGeom prst="rect">
            <a:avLst/>
          </a:prstGeom>
          <a:solidFill>
            <a:srgbClr val="1A6B8A"/>
          </a:solidFill>
          <a:ln w="12700">
            <a:solidFill>
              <a:srgbClr val="1A6B8A"/>
            </a:solidFill>
            <a:prstDash val="solid"/>
          </a:ln>
        </p:spPr>
        <p:txBody>
          <a:bodyPr/>
          <a:lstStyle/>
          <a:p>
            <a:r>
              <a:rPr lang="en-US" sz="2800" b="1" dirty="0">
                <a:solidFill>
                  <a:srgbClr val="FFFFFF"/>
                </a:solidFill>
                <a:latin typeface="Cambria" pitchFamily="34" charset="0"/>
                <a:ea typeface="Cambria" pitchFamily="34" charset="-122"/>
                <a:cs typeface="Cambria" pitchFamily="34" charset="-120"/>
              </a:rPr>
              <a:t>Patient Module</a:t>
            </a:r>
            <a:endParaRPr lang="en-US" sz="2800" dirty="0"/>
          </a:p>
        </p:txBody>
      </p:sp>
      <p:sp>
        <p:nvSpPr>
          <p:cNvPr id="2" name="TextBox 1">
            <a:extLst>
              <a:ext uri="{FF2B5EF4-FFF2-40B4-BE49-F238E27FC236}">
                <a16:creationId xmlns:a16="http://schemas.microsoft.com/office/drawing/2014/main" id="{A24F2B9B-D6E7-4CA9-1E86-23C326EE9969}"/>
              </a:ext>
            </a:extLst>
          </p:cNvPr>
          <p:cNvSpPr txBox="1"/>
          <p:nvPr/>
        </p:nvSpPr>
        <p:spPr>
          <a:xfrm>
            <a:off x="1071716" y="5474109"/>
            <a:ext cx="279244" cy="307777"/>
          </a:xfrm>
          <a:prstGeom prst="rect">
            <a:avLst/>
          </a:prstGeom>
          <a:noFill/>
        </p:spPr>
        <p:txBody>
          <a:bodyPr wrap="none" rtlCol="0">
            <a:spAutoFit/>
          </a:bodyPr>
          <a:lstStyle/>
          <a:p>
            <a:r>
              <a:rPr lang="en-US" sz="1400" dirty="0">
                <a:solidFill>
                  <a:srgbClr val="C4C4C4"/>
                </a:solidFill>
              </a:rPr>
              <a:t>F</a:t>
            </a:r>
            <a:endParaRPr lang="en-IN" sz="1400" dirty="0">
              <a:solidFill>
                <a:srgbClr val="C4C4C4"/>
              </a:solidFill>
            </a:endParaRPr>
          </a:p>
        </p:txBody>
      </p:sp>
    </p:spTree>
    <p:extLst>
      <p:ext uri="{BB962C8B-B14F-4D97-AF65-F5344CB8AC3E}">
        <p14:creationId xmlns:p14="http://schemas.microsoft.com/office/powerpoint/2010/main" val="912088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CD48F8D-8647-1E92-4BFA-13DDA09416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E36F8-5547-3E41-49C4-7BC044237D9D}"/>
              </a:ext>
            </a:extLst>
          </p:cNvPr>
          <p:cNvSpPr txBox="1"/>
          <p:nvPr/>
        </p:nvSpPr>
        <p:spPr>
          <a:xfrm>
            <a:off x="4385187" y="2428568"/>
            <a:ext cx="4375355" cy="2308324"/>
          </a:xfrm>
          <a:prstGeom prst="rect">
            <a:avLst/>
          </a:prstGeom>
          <a:noFill/>
        </p:spPr>
        <p:txBody>
          <a:bodyPr wrap="square" rtlCol="0">
            <a:spAutoFit/>
          </a:bodyPr>
          <a:lstStyle/>
          <a:p>
            <a:r>
              <a:rPr lang="en-US" sz="4800" dirty="0">
                <a:solidFill>
                  <a:srgbClr val="FF9900"/>
                </a:solidFill>
                <a:latin typeface="Aparajita" panose="02020603050405020304" pitchFamily="18" charset="0"/>
                <a:cs typeface="Aparajita" panose="02020603050405020304" pitchFamily="18" charset="0"/>
              </a:rPr>
              <a:t>EMPLOYEE </a:t>
            </a:r>
          </a:p>
          <a:p>
            <a:endParaRPr lang="en-US" sz="4800" dirty="0">
              <a:solidFill>
                <a:srgbClr val="FF9900"/>
              </a:solidFill>
              <a:latin typeface="Aparajita" panose="02020603050405020304" pitchFamily="18" charset="0"/>
              <a:cs typeface="Aparajita" panose="02020603050405020304" pitchFamily="18" charset="0"/>
            </a:endParaRPr>
          </a:p>
          <a:p>
            <a:r>
              <a:rPr lang="en-US" sz="4800" dirty="0">
                <a:solidFill>
                  <a:srgbClr val="FF9900"/>
                </a:solidFill>
                <a:latin typeface="Aparajita" panose="02020603050405020304" pitchFamily="18" charset="0"/>
                <a:cs typeface="Aparajita" panose="02020603050405020304" pitchFamily="18" charset="0"/>
              </a:rPr>
              <a:t> (CASE 2)</a:t>
            </a:r>
            <a:endParaRPr lang="en-IN" sz="4800" dirty="0">
              <a:solidFill>
                <a:srgbClr val="FF9900"/>
              </a:solidFill>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3121787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2E7D5B"/>
          </a:solidFill>
          <a:ln w="12700">
            <a:solidFill>
              <a:srgbClr val="2E7D5B"/>
            </a:solidFill>
            <a:prstDash val="solid"/>
          </a:ln>
        </p:spPr>
      </p:sp>
      <p:sp>
        <p:nvSpPr>
          <p:cNvPr id="3" name="Shape 1"/>
          <p:cNvSpPr/>
          <p:nvPr/>
        </p:nvSpPr>
        <p:spPr>
          <a:xfrm>
            <a:off x="0" y="1146048"/>
            <a:ext cx="12192000" cy="73152"/>
          </a:xfrm>
          <a:prstGeom prst="rect">
            <a:avLst/>
          </a:prstGeom>
          <a:solidFill>
            <a:srgbClr val="C49A2A"/>
          </a:solidFill>
          <a:ln w="12700">
            <a:solidFill>
              <a:srgbClr val="C49A2A"/>
            </a:solidFill>
            <a:prstDash val="solid"/>
          </a:ln>
        </p:spPr>
      </p:sp>
      <p:sp>
        <p:nvSpPr>
          <p:cNvPr id="4" name="Text 2"/>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Employee Module</a:t>
            </a:r>
            <a:endParaRPr lang="en-US" sz="3467" dirty="0"/>
          </a:p>
        </p:txBody>
      </p:sp>
      <p:sp>
        <p:nvSpPr>
          <p:cNvPr id="6" name="Shape 4"/>
          <p:cNvSpPr/>
          <p:nvPr/>
        </p:nvSpPr>
        <p:spPr>
          <a:xfrm>
            <a:off x="365760" y="3962400"/>
            <a:ext cx="3657600" cy="609600"/>
          </a:xfrm>
          <a:prstGeom prst="rect">
            <a:avLst/>
          </a:prstGeom>
          <a:solidFill>
            <a:srgbClr val="2E7D5B"/>
          </a:solidFill>
          <a:ln w="12700">
            <a:solidFill>
              <a:srgbClr val="2E7D5B"/>
            </a:solidFill>
            <a:prstDash val="solid"/>
          </a:ln>
        </p:spPr>
        <p:txBody>
          <a:bodyPr/>
          <a:lstStyle/>
          <a:p>
            <a:endParaRPr lang="en-IN" sz="1600" b="1" dirty="0">
              <a:solidFill>
                <a:schemeClr val="bg1">
                  <a:lumMod val="95000"/>
                </a:schemeClr>
              </a:solidFill>
            </a:endParaRPr>
          </a:p>
        </p:txBody>
      </p:sp>
      <p:sp>
        <p:nvSpPr>
          <p:cNvPr id="7" name="Text 5"/>
          <p:cNvSpPr/>
          <p:nvPr/>
        </p:nvSpPr>
        <p:spPr>
          <a:xfrm>
            <a:off x="579121" y="3980885"/>
            <a:ext cx="3413760" cy="536448"/>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1. Join Hospital</a:t>
            </a:r>
            <a:endParaRPr lang="en-US" sz="1600" dirty="0"/>
          </a:p>
        </p:txBody>
      </p:sp>
      <p:sp>
        <p:nvSpPr>
          <p:cNvPr id="8" name="Text 6"/>
          <p:cNvSpPr/>
          <p:nvPr/>
        </p:nvSpPr>
        <p:spPr>
          <a:xfrm>
            <a:off x="548640" y="4807974"/>
            <a:ext cx="3291840" cy="1470906"/>
          </a:xfrm>
          <a:prstGeom prst="rect">
            <a:avLst/>
          </a:prstGeom>
          <a:noFill/>
          <a:ln/>
        </p:spPr>
        <p:txBody>
          <a:bodyPr wrap="square" rtlCol="0" anchor="ctr"/>
          <a:lstStyle/>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Employee ID</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Name &amp; Age</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Phone Number</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Designation</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Department</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Salary</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Record saved to file</a:t>
            </a:r>
            <a:endParaRPr lang="en-US" sz="1600" dirty="0"/>
          </a:p>
        </p:txBody>
      </p:sp>
      <p:sp>
        <p:nvSpPr>
          <p:cNvPr id="10" name="Shape 8"/>
          <p:cNvSpPr/>
          <p:nvPr/>
        </p:nvSpPr>
        <p:spPr>
          <a:xfrm>
            <a:off x="4450080" y="3962400"/>
            <a:ext cx="3657600" cy="609600"/>
          </a:xfrm>
          <a:prstGeom prst="rect">
            <a:avLst/>
          </a:prstGeom>
          <a:solidFill>
            <a:srgbClr val="1A6B8A"/>
          </a:solidFill>
          <a:ln w="12700">
            <a:solidFill>
              <a:srgbClr val="1A6B8A"/>
            </a:solidFill>
            <a:prstDash val="solid"/>
          </a:ln>
        </p:spPr>
      </p:sp>
      <p:sp>
        <p:nvSpPr>
          <p:cNvPr id="11" name="Text 9"/>
          <p:cNvSpPr/>
          <p:nvPr/>
        </p:nvSpPr>
        <p:spPr>
          <a:xfrm>
            <a:off x="4541520" y="4004875"/>
            <a:ext cx="3413760" cy="536448"/>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2. Request Services</a:t>
            </a:r>
            <a:endParaRPr lang="en-US" sz="1600" dirty="0"/>
          </a:p>
        </p:txBody>
      </p:sp>
      <p:sp>
        <p:nvSpPr>
          <p:cNvPr id="12" name="Text 10"/>
          <p:cNvSpPr/>
          <p:nvPr/>
        </p:nvSpPr>
        <p:spPr>
          <a:xfrm>
            <a:off x="4450080" y="4572000"/>
            <a:ext cx="3291840" cy="1706880"/>
          </a:xfrm>
          <a:prstGeom prst="rect">
            <a:avLst/>
          </a:prstGeom>
          <a:noFill/>
          <a:ln/>
        </p:spPr>
        <p:txBody>
          <a:bodyPr wrap="square" rtlCol="0" anchor="ctr"/>
          <a:lstStyle/>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Shift Change Request</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 Forwarded to supervisor</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Appointment with Admin</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 Submitted to manager</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Confirmation via notification</a:t>
            </a:r>
            <a:endParaRPr lang="en-US" sz="1600" dirty="0"/>
          </a:p>
        </p:txBody>
      </p:sp>
      <p:sp>
        <p:nvSpPr>
          <p:cNvPr id="14" name="Shape 12"/>
          <p:cNvSpPr/>
          <p:nvPr/>
        </p:nvSpPr>
        <p:spPr>
          <a:xfrm>
            <a:off x="8199120" y="3962400"/>
            <a:ext cx="3657600" cy="609600"/>
          </a:xfrm>
          <a:prstGeom prst="rect">
            <a:avLst/>
          </a:prstGeom>
          <a:solidFill>
            <a:srgbClr val="7B3F8E"/>
          </a:solidFill>
          <a:ln w="12700">
            <a:solidFill>
              <a:srgbClr val="7B3F8E"/>
            </a:solidFill>
            <a:prstDash val="solid"/>
          </a:ln>
        </p:spPr>
      </p:sp>
      <p:sp>
        <p:nvSpPr>
          <p:cNvPr id="15" name="Text 13"/>
          <p:cNvSpPr/>
          <p:nvPr/>
        </p:nvSpPr>
        <p:spPr>
          <a:xfrm>
            <a:off x="8412480" y="3997796"/>
            <a:ext cx="3413760" cy="536448"/>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3. Apply for Leave</a:t>
            </a:r>
            <a:endParaRPr lang="en-US" sz="1600" dirty="0"/>
          </a:p>
        </p:txBody>
      </p:sp>
      <p:sp>
        <p:nvSpPr>
          <p:cNvPr id="16" name="Text 14"/>
          <p:cNvSpPr/>
          <p:nvPr/>
        </p:nvSpPr>
        <p:spPr>
          <a:xfrm>
            <a:off x="8351520" y="4572000"/>
            <a:ext cx="3291840" cy="1706880"/>
          </a:xfrm>
          <a:prstGeom prst="rect">
            <a:avLst/>
          </a:prstGeom>
          <a:noFill/>
          <a:ln/>
        </p:spPr>
        <p:txBody>
          <a:bodyPr wrap="square" rtlCol="0" anchor="ctr"/>
          <a:lstStyle/>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Employee ID</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Number of leave days</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Reason for leave</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Application submitted</a:t>
            </a:r>
            <a:endParaRPr lang="en-US" sz="1600" dirty="0"/>
          </a:p>
          <a:p>
            <a:pPr marL="457189" indent="-457189">
              <a:buSzPct val="100000"/>
              <a:buChar char="•"/>
            </a:pPr>
            <a:r>
              <a:rPr lang="en-US" sz="1600" dirty="0">
                <a:solidFill>
                  <a:srgbClr val="333333"/>
                </a:solidFill>
                <a:latin typeface="Calibri" pitchFamily="34" charset="0"/>
                <a:ea typeface="Calibri" pitchFamily="34" charset="-122"/>
                <a:cs typeface="Calibri" pitchFamily="34" charset="-120"/>
              </a:rPr>
              <a:t>Notification on review</a:t>
            </a:r>
            <a:endParaRPr lang="en-US" sz="1600" dirty="0"/>
          </a:p>
        </p:txBody>
      </p:sp>
      <p:pic>
        <p:nvPicPr>
          <p:cNvPr id="19" name="Picture 18">
            <a:extLst>
              <a:ext uri="{FF2B5EF4-FFF2-40B4-BE49-F238E27FC236}">
                <a16:creationId xmlns:a16="http://schemas.microsoft.com/office/drawing/2014/main" id="{CB952408-CC3D-A933-F18C-99E5C7DE5847}"/>
              </a:ext>
            </a:extLst>
          </p:cNvPr>
          <p:cNvPicPr>
            <a:picLocks noChangeAspect="1"/>
          </p:cNvPicPr>
          <p:nvPr/>
        </p:nvPicPr>
        <p:blipFill>
          <a:blip r:embed="rId3">
            <a:extLst>
              <a:ext uri="{28A0092B-C50C-407E-A947-70E740481C1C}">
                <a14:useLocalDpi xmlns:a14="http://schemas.microsoft.com/office/drawing/2010/main" val="0"/>
              </a:ext>
            </a:extLst>
          </a:blip>
          <a:srcRect t="28112" r="80798" b="54360"/>
          <a:stretch>
            <a:fillRect/>
          </a:stretch>
        </p:blipFill>
        <p:spPr>
          <a:xfrm>
            <a:off x="8412480" y="1877765"/>
            <a:ext cx="2570152" cy="1205470"/>
          </a:xfrm>
          <a:prstGeom prst="rect">
            <a:avLst/>
          </a:prstGeom>
        </p:spPr>
      </p:pic>
      <p:pic>
        <p:nvPicPr>
          <p:cNvPr id="21" name="Picture 20">
            <a:extLst>
              <a:ext uri="{FF2B5EF4-FFF2-40B4-BE49-F238E27FC236}">
                <a16:creationId xmlns:a16="http://schemas.microsoft.com/office/drawing/2014/main" id="{33C3F143-5210-9E76-96DA-322A97EF49E0}"/>
              </a:ext>
            </a:extLst>
          </p:cNvPr>
          <p:cNvPicPr>
            <a:picLocks noChangeAspect="1"/>
          </p:cNvPicPr>
          <p:nvPr/>
        </p:nvPicPr>
        <p:blipFill>
          <a:blip r:embed="rId4"/>
          <a:stretch>
            <a:fillRect/>
          </a:stretch>
        </p:blipFill>
        <p:spPr>
          <a:xfrm>
            <a:off x="441613" y="1874619"/>
            <a:ext cx="7763871" cy="12250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76740-7375-DC8D-3547-4A590E0A536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DCAFA2F-79AA-8531-62A1-597A4545ED03}"/>
              </a:ext>
            </a:extLst>
          </p:cNvPr>
          <p:cNvSpPr/>
          <p:nvPr/>
        </p:nvSpPr>
        <p:spPr>
          <a:xfrm>
            <a:off x="0" y="0"/>
            <a:ext cx="12192000" cy="1219200"/>
          </a:xfrm>
          <a:prstGeom prst="rect">
            <a:avLst/>
          </a:prstGeom>
          <a:solidFill>
            <a:srgbClr val="2E7D5B"/>
          </a:solidFill>
          <a:ln w="12700">
            <a:solidFill>
              <a:srgbClr val="2E7D5B"/>
            </a:solidFill>
            <a:prstDash val="solid"/>
          </a:ln>
        </p:spPr>
      </p:sp>
      <p:sp>
        <p:nvSpPr>
          <p:cNvPr id="3" name="Shape 1">
            <a:extLst>
              <a:ext uri="{FF2B5EF4-FFF2-40B4-BE49-F238E27FC236}">
                <a16:creationId xmlns:a16="http://schemas.microsoft.com/office/drawing/2014/main" id="{EA153450-7A7F-8D70-8941-F78339DBBA0B}"/>
              </a:ext>
            </a:extLst>
          </p:cNvPr>
          <p:cNvSpPr/>
          <p:nvPr/>
        </p:nvSpPr>
        <p:spPr>
          <a:xfrm>
            <a:off x="0" y="1146048"/>
            <a:ext cx="12192000" cy="73152"/>
          </a:xfrm>
          <a:prstGeom prst="rect">
            <a:avLst/>
          </a:prstGeom>
          <a:solidFill>
            <a:srgbClr val="C49A2A"/>
          </a:solidFill>
          <a:ln w="12700">
            <a:solidFill>
              <a:srgbClr val="C49A2A"/>
            </a:solidFill>
            <a:prstDash val="solid"/>
          </a:ln>
        </p:spPr>
      </p:sp>
      <p:sp>
        <p:nvSpPr>
          <p:cNvPr id="4" name="Text 2">
            <a:extLst>
              <a:ext uri="{FF2B5EF4-FFF2-40B4-BE49-F238E27FC236}">
                <a16:creationId xmlns:a16="http://schemas.microsoft.com/office/drawing/2014/main" id="{CF51FA41-B8EE-0C38-6BDE-C208907D4B0B}"/>
              </a:ext>
            </a:extLst>
          </p:cNvPr>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Employee Module</a:t>
            </a:r>
            <a:endParaRPr lang="en-US" sz="3467" dirty="0"/>
          </a:p>
        </p:txBody>
      </p:sp>
      <p:pic>
        <p:nvPicPr>
          <p:cNvPr id="9" name="Picture 8">
            <a:extLst>
              <a:ext uri="{FF2B5EF4-FFF2-40B4-BE49-F238E27FC236}">
                <a16:creationId xmlns:a16="http://schemas.microsoft.com/office/drawing/2014/main" id="{94D8D65D-F219-11CD-A934-75A536DF8964}"/>
              </a:ext>
            </a:extLst>
          </p:cNvPr>
          <p:cNvPicPr>
            <a:picLocks noChangeAspect="1"/>
          </p:cNvPicPr>
          <p:nvPr/>
        </p:nvPicPr>
        <p:blipFill>
          <a:blip r:embed="rId3"/>
          <a:stretch>
            <a:fillRect/>
          </a:stretch>
        </p:blipFill>
        <p:spPr>
          <a:xfrm>
            <a:off x="329837" y="1402374"/>
            <a:ext cx="11532325" cy="4909935"/>
          </a:xfrm>
          <a:prstGeom prst="rect">
            <a:avLst/>
          </a:prstGeom>
        </p:spPr>
      </p:pic>
      <p:sp>
        <p:nvSpPr>
          <p:cNvPr id="13" name="TextBox 12">
            <a:extLst>
              <a:ext uri="{FF2B5EF4-FFF2-40B4-BE49-F238E27FC236}">
                <a16:creationId xmlns:a16="http://schemas.microsoft.com/office/drawing/2014/main" id="{BD743B5F-6B27-63CB-59CC-79CF6F2F56E2}"/>
              </a:ext>
            </a:extLst>
          </p:cNvPr>
          <p:cNvSpPr txBox="1"/>
          <p:nvPr/>
        </p:nvSpPr>
        <p:spPr>
          <a:xfrm>
            <a:off x="6479457" y="926067"/>
            <a:ext cx="4557658" cy="769441"/>
          </a:xfrm>
          <a:prstGeom prst="rect">
            <a:avLst/>
          </a:prstGeom>
          <a:gradFill>
            <a:gsLst>
              <a:gs pos="0">
                <a:srgbClr val="00B0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none" rtlCol="0">
            <a:spAutoFit/>
          </a:bodyPr>
          <a:lstStyle/>
          <a:p>
            <a:r>
              <a:rPr lang="en-US" sz="4400" dirty="0">
                <a:latin typeface="Algerian" panose="04020705040A02060702" pitchFamily="82" charset="0"/>
              </a:rPr>
              <a:t>1.JOIN HOSPITAL</a:t>
            </a:r>
            <a:endParaRPr lang="en-IN" sz="4400" dirty="0">
              <a:latin typeface="Algerian" panose="04020705040A02060702" pitchFamily="82" charset="0"/>
            </a:endParaRPr>
          </a:p>
        </p:txBody>
      </p:sp>
    </p:spTree>
    <p:extLst>
      <p:ext uri="{BB962C8B-B14F-4D97-AF65-F5344CB8AC3E}">
        <p14:creationId xmlns:p14="http://schemas.microsoft.com/office/powerpoint/2010/main" val="1691117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CBF9E-A5F4-CFFC-4BB4-98EFEE1F8A9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52E2CA-2251-572C-56B6-29C835A56EF0}"/>
              </a:ext>
            </a:extLst>
          </p:cNvPr>
          <p:cNvSpPr/>
          <p:nvPr/>
        </p:nvSpPr>
        <p:spPr>
          <a:xfrm>
            <a:off x="9832" y="0"/>
            <a:ext cx="12192000" cy="1219200"/>
          </a:xfrm>
          <a:prstGeom prst="rect">
            <a:avLst/>
          </a:prstGeom>
          <a:solidFill>
            <a:srgbClr val="2E7D5B"/>
          </a:solidFill>
          <a:ln w="12700">
            <a:solidFill>
              <a:srgbClr val="2E7D5B"/>
            </a:solidFill>
            <a:prstDash val="solid"/>
          </a:ln>
        </p:spPr>
      </p:sp>
      <p:sp>
        <p:nvSpPr>
          <p:cNvPr id="3" name="Shape 1">
            <a:extLst>
              <a:ext uri="{FF2B5EF4-FFF2-40B4-BE49-F238E27FC236}">
                <a16:creationId xmlns:a16="http://schemas.microsoft.com/office/drawing/2014/main" id="{1673B2B0-6B3A-436D-0AF0-35E2D76D6DCE}"/>
              </a:ext>
            </a:extLst>
          </p:cNvPr>
          <p:cNvSpPr/>
          <p:nvPr/>
        </p:nvSpPr>
        <p:spPr>
          <a:xfrm>
            <a:off x="0" y="1146048"/>
            <a:ext cx="12192000" cy="73152"/>
          </a:xfrm>
          <a:prstGeom prst="rect">
            <a:avLst/>
          </a:prstGeom>
          <a:solidFill>
            <a:srgbClr val="C49A2A"/>
          </a:solidFill>
          <a:ln w="12700">
            <a:solidFill>
              <a:srgbClr val="C49A2A"/>
            </a:solidFill>
            <a:prstDash val="solid"/>
          </a:ln>
        </p:spPr>
      </p:sp>
      <p:sp>
        <p:nvSpPr>
          <p:cNvPr id="4" name="Text 2">
            <a:extLst>
              <a:ext uri="{FF2B5EF4-FFF2-40B4-BE49-F238E27FC236}">
                <a16:creationId xmlns:a16="http://schemas.microsoft.com/office/drawing/2014/main" id="{D1C6808D-2A79-739D-134D-7F803B963420}"/>
              </a:ext>
            </a:extLst>
          </p:cNvPr>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Employee Module</a:t>
            </a:r>
            <a:endParaRPr lang="en-US" sz="3467" dirty="0"/>
          </a:p>
        </p:txBody>
      </p:sp>
      <p:pic>
        <p:nvPicPr>
          <p:cNvPr id="6" name="Picture 5">
            <a:extLst>
              <a:ext uri="{FF2B5EF4-FFF2-40B4-BE49-F238E27FC236}">
                <a16:creationId xmlns:a16="http://schemas.microsoft.com/office/drawing/2014/main" id="{CB05F256-E917-FB3C-3B22-9CBF147BCCC4}"/>
              </a:ext>
            </a:extLst>
          </p:cNvPr>
          <p:cNvPicPr>
            <a:picLocks noChangeAspect="1"/>
          </p:cNvPicPr>
          <p:nvPr/>
        </p:nvPicPr>
        <p:blipFill>
          <a:blip r:embed="rId3">
            <a:extLst>
              <a:ext uri="{28A0092B-C50C-407E-A947-70E740481C1C}">
                <a14:useLocalDpi xmlns:a14="http://schemas.microsoft.com/office/drawing/2010/main" val="0"/>
              </a:ext>
            </a:extLst>
          </a:blip>
          <a:srcRect l="5008" t="23388" r="25564" b="11404"/>
          <a:stretch>
            <a:fillRect/>
          </a:stretch>
        </p:blipFill>
        <p:spPr>
          <a:xfrm>
            <a:off x="0" y="1219200"/>
            <a:ext cx="12192000" cy="5553456"/>
          </a:xfrm>
          <a:prstGeom prst="rect">
            <a:avLst/>
          </a:prstGeom>
        </p:spPr>
      </p:pic>
      <p:sp>
        <p:nvSpPr>
          <p:cNvPr id="7" name="TextBox 6">
            <a:extLst>
              <a:ext uri="{FF2B5EF4-FFF2-40B4-BE49-F238E27FC236}">
                <a16:creationId xmlns:a16="http://schemas.microsoft.com/office/drawing/2014/main" id="{EB94CF98-FE5B-B19E-A46B-911351558607}"/>
              </a:ext>
            </a:extLst>
          </p:cNvPr>
          <p:cNvSpPr txBox="1"/>
          <p:nvPr/>
        </p:nvSpPr>
        <p:spPr>
          <a:xfrm>
            <a:off x="8475405" y="2157984"/>
            <a:ext cx="3100295" cy="3785652"/>
          </a:xfrm>
          <a:prstGeom prst="rect">
            <a:avLst/>
          </a:prstGeom>
          <a:noFill/>
        </p:spPr>
        <p:txBody>
          <a:bodyPr wrap="square" rtlCol="0">
            <a:spAutoFit/>
          </a:bodyPr>
          <a:lstStyle/>
          <a:p>
            <a:r>
              <a:rPr lang="en-US" sz="2400" dirty="0">
                <a:solidFill>
                  <a:schemeClr val="bg2">
                    <a:lumMod val="10000"/>
                  </a:schemeClr>
                </a:solidFill>
                <a:latin typeface="Aparajita" panose="02020603050405020304" pitchFamily="18" charset="0"/>
                <a:cs typeface="Aparajita" panose="02020603050405020304" pitchFamily="18" charset="0"/>
              </a:rPr>
              <a:t>A SUMMARY OF THE </a:t>
            </a:r>
          </a:p>
          <a:p>
            <a:r>
              <a:rPr lang="en-US" sz="2400" dirty="0">
                <a:solidFill>
                  <a:schemeClr val="bg2">
                    <a:lumMod val="10000"/>
                  </a:schemeClr>
                </a:solidFill>
                <a:latin typeface="Aparajita" panose="02020603050405020304" pitchFamily="18" charset="0"/>
                <a:cs typeface="Aparajita" panose="02020603050405020304" pitchFamily="18" charset="0"/>
              </a:rPr>
              <a:t>DETAILS OF THE EMPLOYEE</a:t>
            </a:r>
          </a:p>
          <a:p>
            <a:r>
              <a:rPr lang="en-US" sz="2400" dirty="0">
                <a:solidFill>
                  <a:schemeClr val="bg2">
                    <a:lumMod val="10000"/>
                  </a:schemeClr>
                </a:solidFill>
                <a:latin typeface="Aparajita" panose="02020603050405020304" pitchFamily="18" charset="0"/>
                <a:cs typeface="Aparajita" panose="02020603050405020304" pitchFamily="18" charset="0"/>
              </a:rPr>
              <a:t>WILL BE DISPLAYED AND</a:t>
            </a:r>
          </a:p>
          <a:p>
            <a:r>
              <a:rPr lang="en-US" sz="2400" dirty="0">
                <a:solidFill>
                  <a:schemeClr val="bg2">
                    <a:lumMod val="10000"/>
                  </a:schemeClr>
                </a:solidFill>
                <a:latin typeface="Aparajita" panose="02020603050405020304" pitchFamily="18" charset="0"/>
                <a:cs typeface="Aparajita" panose="02020603050405020304" pitchFamily="18" charset="0"/>
              </a:rPr>
              <a:t> IS APPENDED</a:t>
            </a:r>
          </a:p>
          <a:p>
            <a:r>
              <a:rPr lang="en-US" sz="2400" dirty="0">
                <a:solidFill>
                  <a:schemeClr val="bg2">
                    <a:lumMod val="10000"/>
                  </a:schemeClr>
                </a:solidFill>
                <a:latin typeface="Aparajita" panose="02020603050405020304" pitchFamily="18" charset="0"/>
                <a:cs typeface="Aparajita" panose="02020603050405020304" pitchFamily="18" charset="0"/>
              </a:rPr>
              <a:t>INTO A FILE CALLED </a:t>
            </a:r>
          </a:p>
          <a:p>
            <a:r>
              <a:rPr lang="en-US" sz="2400" dirty="0">
                <a:solidFill>
                  <a:schemeClr val="bg2">
                    <a:lumMod val="10000"/>
                  </a:schemeClr>
                </a:solidFill>
                <a:latin typeface="Aparajita" panose="02020603050405020304" pitchFamily="18" charset="0"/>
                <a:cs typeface="Aparajita" panose="02020603050405020304" pitchFamily="18" charset="0"/>
              </a:rPr>
              <a:t>EMPLOYEE WHICH </a:t>
            </a:r>
          </a:p>
          <a:p>
            <a:r>
              <a:rPr lang="en-US" sz="2400" dirty="0">
                <a:solidFill>
                  <a:schemeClr val="bg2">
                    <a:lumMod val="10000"/>
                  </a:schemeClr>
                </a:solidFill>
                <a:latin typeface="Aparajita" panose="02020603050405020304" pitchFamily="18" charset="0"/>
                <a:cs typeface="Aparajita" panose="02020603050405020304" pitchFamily="18" charset="0"/>
              </a:rPr>
              <a:t>IS MANAGED</a:t>
            </a:r>
          </a:p>
          <a:p>
            <a:r>
              <a:rPr lang="en-US" sz="2400" dirty="0">
                <a:solidFill>
                  <a:schemeClr val="bg2">
                    <a:lumMod val="10000"/>
                  </a:schemeClr>
                </a:solidFill>
                <a:latin typeface="Aparajita" panose="02020603050405020304" pitchFamily="18" charset="0"/>
                <a:cs typeface="Aparajita" panose="02020603050405020304" pitchFamily="18" charset="0"/>
              </a:rPr>
              <a:t>BY THE HOSPITAL</a:t>
            </a:r>
            <a:endParaRPr lang="en-IN" sz="2400" dirty="0">
              <a:solidFill>
                <a:schemeClr val="bg2">
                  <a:lumMod val="10000"/>
                </a:schemeClr>
              </a:solidFill>
              <a:latin typeface="Aparajita" panose="02020603050405020304" pitchFamily="18" charset="0"/>
              <a:cs typeface="Aparajita" panose="02020603050405020304" pitchFamily="18" charset="0"/>
            </a:endParaRPr>
          </a:p>
        </p:txBody>
      </p:sp>
      <p:sp>
        <p:nvSpPr>
          <p:cNvPr id="5" name="TextBox 4">
            <a:extLst>
              <a:ext uri="{FF2B5EF4-FFF2-40B4-BE49-F238E27FC236}">
                <a16:creationId xmlns:a16="http://schemas.microsoft.com/office/drawing/2014/main" id="{FDDBA874-EE2B-88A5-882E-FC088EB5A024}"/>
              </a:ext>
            </a:extLst>
          </p:cNvPr>
          <p:cNvSpPr txBox="1"/>
          <p:nvPr/>
        </p:nvSpPr>
        <p:spPr>
          <a:xfrm>
            <a:off x="1356852" y="3681478"/>
            <a:ext cx="1558440" cy="369332"/>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en-US" dirty="0">
                <a:solidFill>
                  <a:schemeClr val="bg1"/>
                </a:solidFill>
              </a:rPr>
              <a:t>FILE POINTER</a:t>
            </a:r>
            <a:endParaRPr lang="en-IN" dirty="0">
              <a:solidFill>
                <a:schemeClr val="bg1"/>
              </a:solidFill>
            </a:endParaRPr>
          </a:p>
        </p:txBody>
      </p:sp>
      <p:sp>
        <p:nvSpPr>
          <p:cNvPr id="8" name="Arrow: Right 7">
            <a:extLst>
              <a:ext uri="{FF2B5EF4-FFF2-40B4-BE49-F238E27FC236}">
                <a16:creationId xmlns:a16="http://schemas.microsoft.com/office/drawing/2014/main" id="{B0A9B7F6-89A4-D658-D3F7-4B151FDCB57F}"/>
              </a:ext>
            </a:extLst>
          </p:cNvPr>
          <p:cNvSpPr/>
          <p:nvPr/>
        </p:nvSpPr>
        <p:spPr>
          <a:xfrm rot="20828090">
            <a:off x="844063" y="3836604"/>
            <a:ext cx="491613" cy="157316"/>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solidFill>
                <a:srgbClr val="002060"/>
              </a:solidFill>
            </a:endParaRPr>
          </a:p>
        </p:txBody>
      </p:sp>
      <p:sp>
        <p:nvSpPr>
          <p:cNvPr id="9" name="Arrow: Right 8">
            <a:extLst>
              <a:ext uri="{FF2B5EF4-FFF2-40B4-BE49-F238E27FC236}">
                <a16:creationId xmlns:a16="http://schemas.microsoft.com/office/drawing/2014/main" id="{4301109A-A811-1E83-2A8A-8517E0D09E46}"/>
              </a:ext>
            </a:extLst>
          </p:cNvPr>
          <p:cNvSpPr/>
          <p:nvPr/>
        </p:nvSpPr>
        <p:spPr>
          <a:xfrm rot="21178184">
            <a:off x="840498" y="6326711"/>
            <a:ext cx="491613" cy="157316"/>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solidFill>
                <a:srgbClr val="002060"/>
              </a:solidFill>
            </a:endParaRPr>
          </a:p>
        </p:txBody>
      </p:sp>
      <p:sp>
        <p:nvSpPr>
          <p:cNvPr id="11" name="TextBox 10">
            <a:extLst>
              <a:ext uri="{FF2B5EF4-FFF2-40B4-BE49-F238E27FC236}">
                <a16:creationId xmlns:a16="http://schemas.microsoft.com/office/drawing/2014/main" id="{16081ABA-8521-E691-40DA-77BE77FBFE85}"/>
              </a:ext>
            </a:extLst>
          </p:cNvPr>
          <p:cNvSpPr txBox="1"/>
          <p:nvPr/>
        </p:nvSpPr>
        <p:spPr>
          <a:xfrm>
            <a:off x="1484673" y="6220703"/>
            <a:ext cx="2064774" cy="369332"/>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r>
              <a:rPr lang="en-US" dirty="0">
                <a:solidFill>
                  <a:schemeClr val="bg1"/>
                </a:solidFill>
              </a:rPr>
              <a:t>CLOSING THE FILE</a:t>
            </a:r>
            <a:endParaRPr lang="en-IN" dirty="0">
              <a:solidFill>
                <a:schemeClr val="bg1"/>
              </a:solidFill>
            </a:endParaRPr>
          </a:p>
        </p:txBody>
      </p:sp>
      <p:sp>
        <p:nvSpPr>
          <p:cNvPr id="13" name="Arrow: Right 12">
            <a:extLst>
              <a:ext uri="{FF2B5EF4-FFF2-40B4-BE49-F238E27FC236}">
                <a16:creationId xmlns:a16="http://schemas.microsoft.com/office/drawing/2014/main" id="{47CB4438-26B5-F40C-D959-6DF34EE69525}"/>
              </a:ext>
            </a:extLst>
          </p:cNvPr>
          <p:cNvSpPr/>
          <p:nvPr/>
        </p:nvSpPr>
        <p:spPr>
          <a:xfrm>
            <a:off x="5067017" y="4254475"/>
            <a:ext cx="491613" cy="157316"/>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solidFill>
                <a:srgbClr val="002060"/>
              </a:solidFill>
            </a:endParaRPr>
          </a:p>
        </p:txBody>
      </p:sp>
      <p:sp>
        <p:nvSpPr>
          <p:cNvPr id="14" name="TextBox 13">
            <a:extLst>
              <a:ext uri="{FF2B5EF4-FFF2-40B4-BE49-F238E27FC236}">
                <a16:creationId xmlns:a16="http://schemas.microsoft.com/office/drawing/2014/main" id="{E0013EBC-F762-EAFD-62F2-94127F05049C}"/>
              </a:ext>
            </a:extLst>
          </p:cNvPr>
          <p:cNvSpPr txBox="1"/>
          <p:nvPr/>
        </p:nvSpPr>
        <p:spPr>
          <a:xfrm>
            <a:off x="5675833" y="4148467"/>
            <a:ext cx="2064774" cy="923330"/>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r>
              <a:rPr lang="en-US" dirty="0">
                <a:solidFill>
                  <a:schemeClr val="bg1"/>
                </a:solidFill>
              </a:rPr>
              <a:t>FILE OBJECT(APPEND MODE)</a:t>
            </a:r>
            <a:endParaRPr lang="en-IN" dirty="0">
              <a:solidFill>
                <a:schemeClr val="bg1"/>
              </a:solidFill>
            </a:endParaRPr>
          </a:p>
        </p:txBody>
      </p:sp>
      <p:sp>
        <p:nvSpPr>
          <p:cNvPr id="16" name="TextBox 15">
            <a:extLst>
              <a:ext uri="{FF2B5EF4-FFF2-40B4-BE49-F238E27FC236}">
                <a16:creationId xmlns:a16="http://schemas.microsoft.com/office/drawing/2014/main" id="{D3CE36C8-0870-FD82-F451-6C46577AD6FB}"/>
              </a:ext>
            </a:extLst>
          </p:cNvPr>
          <p:cNvSpPr txBox="1"/>
          <p:nvPr/>
        </p:nvSpPr>
        <p:spPr>
          <a:xfrm>
            <a:off x="3052916" y="3246792"/>
            <a:ext cx="6105832" cy="369332"/>
          </a:xfrm>
          <a:prstGeom prst="rect">
            <a:avLst/>
          </a:prstGeom>
          <a:noFill/>
        </p:spPr>
        <p:txBody>
          <a:bodyPr wrap="square">
            <a:spAutoFit/>
          </a:bodyPr>
          <a:lstStyle/>
          <a:p>
            <a:r>
              <a:rPr lang="en-US" sz="1800" dirty="0">
                <a:latin typeface="Algerian" panose="04020705040A02060702" pitchFamily="82" charset="0"/>
              </a:rPr>
              <a:t>1.JOIN HOSPITAL</a:t>
            </a:r>
            <a:endParaRPr lang="en-IN" sz="1800" dirty="0">
              <a:latin typeface="Algerian" panose="04020705040A02060702" pitchFamily="82" charset="0"/>
            </a:endParaRPr>
          </a:p>
        </p:txBody>
      </p:sp>
      <p:sp>
        <p:nvSpPr>
          <p:cNvPr id="17" name="TextBox 16">
            <a:extLst>
              <a:ext uri="{FF2B5EF4-FFF2-40B4-BE49-F238E27FC236}">
                <a16:creationId xmlns:a16="http://schemas.microsoft.com/office/drawing/2014/main" id="{665204D6-0D72-4781-80D1-121622C347CF}"/>
              </a:ext>
            </a:extLst>
          </p:cNvPr>
          <p:cNvSpPr txBox="1"/>
          <p:nvPr/>
        </p:nvSpPr>
        <p:spPr>
          <a:xfrm>
            <a:off x="6400799" y="774838"/>
            <a:ext cx="4557658" cy="769441"/>
          </a:xfrm>
          <a:prstGeom prst="rect">
            <a:avLst/>
          </a:prstGeom>
          <a:gradFill>
            <a:gsLst>
              <a:gs pos="0">
                <a:srgbClr val="00B0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none" rtlCol="0">
            <a:spAutoFit/>
          </a:bodyPr>
          <a:lstStyle/>
          <a:p>
            <a:r>
              <a:rPr lang="en-US" sz="4400" dirty="0">
                <a:latin typeface="Algerian" panose="04020705040A02060702" pitchFamily="82" charset="0"/>
              </a:rPr>
              <a:t>1.JOIN HOSPITAL</a:t>
            </a:r>
            <a:endParaRPr lang="en-IN" sz="4400" dirty="0">
              <a:latin typeface="Algerian" panose="04020705040A02060702" pitchFamily="82" charset="0"/>
            </a:endParaRPr>
          </a:p>
        </p:txBody>
      </p:sp>
    </p:spTree>
    <p:extLst>
      <p:ext uri="{BB962C8B-B14F-4D97-AF65-F5344CB8AC3E}">
        <p14:creationId xmlns:p14="http://schemas.microsoft.com/office/powerpoint/2010/main" val="111346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076F03-03AE-3908-05C0-AC7EFD4E310A}"/>
              </a:ext>
            </a:extLst>
          </p:cNvPr>
          <p:cNvPicPr>
            <a:picLocks noChangeAspect="1"/>
          </p:cNvPicPr>
          <p:nvPr/>
        </p:nvPicPr>
        <p:blipFill>
          <a:blip r:embed="rId2"/>
          <a:stretch>
            <a:fillRect/>
          </a:stretch>
        </p:blipFill>
        <p:spPr>
          <a:xfrm>
            <a:off x="274964" y="493694"/>
            <a:ext cx="11395927" cy="6010384"/>
          </a:xfrm>
          <a:prstGeom prst="rect">
            <a:avLst/>
          </a:prstGeom>
        </p:spPr>
      </p:pic>
      <p:sp>
        <p:nvSpPr>
          <p:cNvPr id="4" name="TextBox 3">
            <a:extLst>
              <a:ext uri="{FF2B5EF4-FFF2-40B4-BE49-F238E27FC236}">
                <a16:creationId xmlns:a16="http://schemas.microsoft.com/office/drawing/2014/main" id="{8BDE63FB-A3CE-8BE8-6F19-E3948C7490B3}"/>
              </a:ext>
            </a:extLst>
          </p:cNvPr>
          <p:cNvSpPr txBox="1"/>
          <p:nvPr/>
        </p:nvSpPr>
        <p:spPr>
          <a:xfrm>
            <a:off x="2431162" y="124362"/>
            <a:ext cx="6293839" cy="369332"/>
          </a:xfrm>
          <a:prstGeom prst="rect">
            <a:avLst/>
          </a:prstGeom>
        </p:spPr>
        <p:style>
          <a:lnRef idx="1">
            <a:schemeClr val="accent4"/>
          </a:lnRef>
          <a:fillRef idx="3">
            <a:schemeClr val="accent4"/>
          </a:fillRef>
          <a:effectRef idx="2">
            <a:schemeClr val="accent4"/>
          </a:effectRef>
          <a:fontRef idx="minor">
            <a:schemeClr val="lt1"/>
          </a:fontRef>
        </p:style>
        <p:txBody>
          <a:bodyPr wrap="none" rtlCol="0">
            <a:spAutoFit/>
          </a:bodyPr>
          <a:lstStyle/>
          <a:p>
            <a:r>
              <a:rPr lang="en-US" dirty="0">
                <a:solidFill>
                  <a:schemeClr val="bg2">
                    <a:lumMod val="10000"/>
                  </a:schemeClr>
                </a:solidFill>
              </a:rPr>
              <a:t>THE TEXT FILE WHICH STORES THE DATA OF THE EMPLOYEES</a:t>
            </a:r>
            <a:endParaRPr lang="en-IN" dirty="0">
              <a:solidFill>
                <a:schemeClr val="bg2">
                  <a:lumMod val="10000"/>
                </a:schemeClr>
              </a:solidFill>
            </a:endParaRPr>
          </a:p>
        </p:txBody>
      </p:sp>
    </p:spTree>
    <p:extLst>
      <p:ext uri="{BB962C8B-B14F-4D97-AF65-F5344CB8AC3E}">
        <p14:creationId xmlns:p14="http://schemas.microsoft.com/office/powerpoint/2010/main" val="1099536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CF0F9-7E05-0B86-11F1-4B8AC32D2F1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9795AB-393B-F951-D860-D42724A330E1}"/>
              </a:ext>
            </a:extLst>
          </p:cNvPr>
          <p:cNvSpPr/>
          <p:nvPr/>
        </p:nvSpPr>
        <p:spPr>
          <a:xfrm>
            <a:off x="0" y="0"/>
            <a:ext cx="12192000" cy="1219200"/>
          </a:xfrm>
          <a:prstGeom prst="rect">
            <a:avLst/>
          </a:prstGeom>
          <a:solidFill>
            <a:srgbClr val="2E7D5B"/>
          </a:solidFill>
          <a:ln w="12700">
            <a:solidFill>
              <a:srgbClr val="2E7D5B"/>
            </a:solidFill>
            <a:prstDash val="solid"/>
          </a:ln>
        </p:spPr>
      </p:sp>
      <p:sp>
        <p:nvSpPr>
          <p:cNvPr id="3" name="Shape 1">
            <a:extLst>
              <a:ext uri="{FF2B5EF4-FFF2-40B4-BE49-F238E27FC236}">
                <a16:creationId xmlns:a16="http://schemas.microsoft.com/office/drawing/2014/main" id="{3321DBF6-265C-5780-F515-2E422976D1B5}"/>
              </a:ext>
            </a:extLst>
          </p:cNvPr>
          <p:cNvSpPr/>
          <p:nvPr/>
        </p:nvSpPr>
        <p:spPr>
          <a:xfrm>
            <a:off x="0" y="1146048"/>
            <a:ext cx="12192000" cy="73152"/>
          </a:xfrm>
          <a:prstGeom prst="rect">
            <a:avLst/>
          </a:prstGeom>
          <a:solidFill>
            <a:srgbClr val="C49A2A"/>
          </a:solidFill>
          <a:ln w="12700">
            <a:solidFill>
              <a:srgbClr val="C49A2A"/>
            </a:solidFill>
            <a:prstDash val="solid"/>
          </a:ln>
        </p:spPr>
      </p:sp>
      <p:sp>
        <p:nvSpPr>
          <p:cNvPr id="4" name="Text 2">
            <a:extLst>
              <a:ext uri="{FF2B5EF4-FFF2-40B4-BE49-F238E27FC236}">
                <a16:creationId xmlns:a16="http://schemas.microsoft.com/office/drawing/2014/main" id="{92E34ECD-8CA8-C07D-27CD-975B7F36DB12}"/>
              </a:ext>
            </a:extLst>
          </p:cNvPr>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Employee Module</a:t>
            </a:r>
            <a:endParaRPr lang="en-US" sz="3467" dirty="0"/>
          </a:p>
        </p:txBody>
      </p:sp>
      <p:sp>
        <p:nvSpPr>
          <p:cNvPr id="13" name="TextBox 12">
            <a:extLst>
              <a:ext uri="{FF2B5EF4-FFF2-40B4-BE49-F238E27FC236}">
                <a16:creationId xmlns:a16="http://schemas.microsoft.com/office/drawing/2014/main" id="{15C9C66F-A6DA-A930-C2C8-C40C0B1D0A94}"/>
              </a:ext>
            </a:extLst>
          </p:cNvPr>
          <p:cNvSpPr txBox="1"/>
          <p:nvPr/>
        </p:nvSpPr>
        <p:spPr>
          <a:xfrm>
            <a:off x="7057833" y="853660"/>
            <a:ext cx="4745210" cy="646331"/>
          </a:xfrm>
          <a:prstGeom prst="rect">
            <a:avLst/>
          </a:prstGeom>
          <a:gradFill>
            <a:gsLst>
              <a:gs pos="0">
                <a:schemeClr val="bg2">
                  <a:lumMod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none" rtlCol="0">
            <a:spAutoFit/>
          </a:bodyPr>
          <a:lstStyle/>
          <a:p>
            <a:r>
              <a:rPr lang="en-US" sz="3600" dirty="0">
                <a:latin typeface="Algerian" panose="04020705040A02060702" pitchFamily="82" charset="0"/>
              </a:rPr>
              <a:t>2.REQUEST SERVICES</a:t>
            </a:r>
            <a:endParaRPr lang="en-IN" sz="3600" dirty="0">
              <a:latin typeface="Algerian" panose="04020705040A02060702" pitchFamily="82" charset="0"/>
            </a:endParaRPr>
          </a:p>
        </p:txBody>
      </p:sp>
      <p:pic>
        <p:nvPicPr>
          <p:cNvPr id="6" name="Picture 5">
            <a:extLst>
              <a:ext uri="{FF2B5EF4-FFF2-40B4-BE49-F238E27FC236}">
                <a16:creationId xmlns:a16="http://schemas.microsoft.com/office/drawing/2014/main" id="{2D32E5DA-1A02-CF66-C9E9-943D66F67B1D}"/>
              </a:ext>
            </a:extLst>
          </p:cNvPr>
          <p:cNvPicPr>
            <a:picLocks noChangeAspect="1"/>
          </p:cNvPicPr>
          <p:nvPr/>
        </p:nvPicPr>
        <p:blipFill>
          <a:blip r:embed="rId3"/>
          <a:stretch>
            <a:fillRect/>
          </a:stretch>
        </p:blipFill>
        <p:spPr>
          <a:xfrm>
            <a:off x="95528" y="4018503"/>
            <a:ext cx="6865711" cy="2728196"/>
          </a:xfrm>
          <a:prstGeom prst="rect">
            <a:avLst/>
          </a:prstGeom>
        </p:spPr>
      </p:pic>
      <p:pic>
        <p:nvPicPr>
          <p:cNvPr id="8" name="Picture 7">
            <a:extLst>
              <a:ext uri="{FF2B5EF4-FFF2-40B4-BE49-F238E27FC236}">
                <a16:creationId xmlns:a16="http://schemas.microsoft.com/office/drawing/2014/main" id="{A294C1E0-098E-8781-FE27-BE1917FC60C2}"/>
              </a:ext>
            </a:extLst>
          </p:cNvPr>
          <p:cNvPicPr>
            <a:picLocks noChangeAspect="1"/>
          </p:cNvPicPr>
          <p:nvPr/>
        </p:nvPicPr>
        <p:blipFill>
          <a:blip r:embed="rId4"/>
          <a:stretch>
            <a:fillRect/>
          </a:stretch>
        </p:blipFill>
        <p:spPr>
          <a:xfrm>
            <a:off x="95528" y="1231392"/>
            <a:ext cx="6865711" cy="2672014"/>
          </a:xfrm>
          <a:prstGeom prst="rect">
            <a:avLst/>
          </a:prstGeom>
        </p:spPr>
      </p:pic>
      <p:sp>
        <p:nvSpPr>
          <p:cNvPr id="10" name="TextBox 9">
            <a:extLst>
              <a:ext uri="{FF2B5EF4-FFF2-40B4-BE49-F238E27FC236}">
                <a16:creationId xmlns:a16="http://schemas.microsoft.com/office/drawing/2014/main" id="{357677E0-D42C-78FF-FBF7-DFD2B7F6B337}"/>
              </a:ext>
            </a:extLst>
          </p:cNvPr>
          <p:cNvSpPr txBox="1"/>
          <p:nvPr/>
        </p:nvSpPr>
        <p:spPr>
          <a:xfrm>
            <a:off x="7185256" y="2567399"/>
            <a:ext cx="4911216" cy="2554545"/>
          </a:xfrm>
          <a:prstGeom prst="rect">
            <a:avLst/>
          </a:prstGeom>
          <a:noFill/>
        </p:spPr>
        <p:txBody>
          <a:bodyPr wrap="square" rtlCol="0">
            <a:spAutoFit/>
          </a:bodyPr>
          <a:lstStyle/>
          <a:p>
            <a:r>
              <a:rPr lang="en-US" sz="2000" dirty="0"/>
              <a:t>This module allows employees to submit </a:t>
            </a:r>
          </a:p>
          <a:p>
            <a:r>
              <a:rPr lang="en-US" sz="2000" dirty="0"/>
              <a:t>service requests. </a:t>
            </a:r>
          </a:p>
          <a:p>
            <a:r>
              <a:rPr lang="en-US" sz="2000" dirty="0"/>
              <a:t>The system acknowledges </a:t>
            </a:r>
          </a:p>
          <a:p>
            <a:r>
              <a:rPr lang="en-US" sz="2000" dirty="0"/>
              <a:t>the request and </a:t>
            </a:r>
          </a:p>
          <a:p>
            <a:r>
              <a:rPr lang="en-US" sz="2000" dirty="0"/>
              <a:t>informs the employee </a:t>
            </a:r>
          </a:p>
          <a:p>
            <a:r>
              <a:rPr lang="en-US" sz="2000" dirty="0"/>
              <a:t>that it has been </a:t>
            </a:r>
          </a:p>
          <a:p>
            <a:r>
              <a:rPr lang="en-US" sz="2000" dirty="0"/>
              <a:t>forwarded to the appropriate authority</a:t>
            </a:r>
          </a:p>
          <a:p>
            <a:r>
              <a:rPr lang="en-US" sz="2000" dirty="0"/>
              <a:t> for further review.</a:t>
            </a:r>
            <a:endParaRPr lang="en-IN" sz="2000" dirty="0"/>
          </a:p>
        </p:txBody>
      </p:sp>
    </p:spTree>
    <p:extLst>
      <p:ext uri="{BB962C8B-B14F-4D97-AF65-F5344CB8AC3E}">
        <p14:creationId xmlns:p14="http://schemas.microsoft.com/office/powerpoint/2010/main" val="178911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4A01C-5C65-848F-D09C-AF522FF3CD4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DFA1215-9467-573E-1E69-9AE88D4E80BF}"/>
              </a:ext>
            </a:extLst>
          </p:cNvPr>
          <p:cNvSpPr/>
          <p:nvPr/>
        </p:nvSpPr>
        <p:spPr>
          <a:xfrm>
            <a:off x="9832" y="0"/>
            <a:ext cx="12192000" cy="1219200"/>
          </a:xfrm>
          <a:prstGeom prst="rect">
            <a:avLst/>
          </a:prstGeom>
          <a:solidFill>
            <a:srgbClr val="2E7D5B"/>
          </a:solidFill>
          <a:ln w="12700">
            <a:solidFill>
              <a:srgbClr val="2E7D5B"/>
            </a:solidFill>
            <a:prstDash val="solid"/>
          </a:ln>
        </p:spPr>
      </p:sp>
      <p:sp>
        <p:nvSpPr>
          <p:cNvPr id="3" name="Shape 1">
            <a:extLst>
              <a:ext uri="{FF2B5EF4-FFF2-40B4-BE49-F238E27FC236}">
                <a16:creationId xmlns:a16="http://schemas.microsoft.com/office/drawing/2014/main" id="{9A40C93A-FA42-C842-807B-128EDCA3339F}"/>
              </a:ext>
            </a:extLst>
          </p:cNvPr>
          <p:cNvSpPr/>
          <p:nvPr/>
        </p:nvSpPr>
        <p:spPr>
          <a:xfrm>
            <a:off x="0" y="1146048"/>
            <a:ext cx="12192000" cy="73152"/>
          </a:xfrm>
          <a:prstGeom prst="rect">
            <a:avLst/>
          </a:prstGeom>
          <a:solidFill>
            <a:srgbClr val="C49A2A"/>
          </a:solidFill>
          <a:ln w="12700">
            <a:solidFill>
              <a:srgbClr val="C49A2A"/>
            </a:solidFill>
            <a:prstDash val="solid"/>
          </a:ln>
        </p:spPr>
      </p:sp>
      <p:sp>
        <p:nvSpPr>
          <p:cNvPr id="4" name="Text 2">
            <a:extLst>
              <a:ext uri="{FF2B5EF4-FFF2-40B4-BE49-F238E27FC236}">
                <a16:creationId xmlns:a16="http://schemas.microsoft.com/office/drawing/2014/main" id="{551E7465-ED62-E5DB-4414-7B7738F3F1E7}"/>
              </a:ext>
            </a:extLst>
          </p:cNvPr>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Employee Module</a:t>
            </a:r>
            <a:endParaRPr lang="en-US" sz="3467" dirty="0"/>
          </a:p>
        </p:txBody>
      </p:sp>
      <p:pic>
        <p:nvPicPr>
          <p:cNvPr id="8" name="Picture 7">
            <a:extLst>
              <a:ext uri="{FF2B5EF4-FFF2-40B4-BE49-F238E27FC236}">
                <a16:creationId xmlns:a16="http://schemas.microsoft.com/office/drawing/2014/main" id="{95CDB37E-44E9-1C67-5E4F-E06F79CFB1E5}"/>
              </a:ext>
            </a:extLst>
          </p:cNvPr>
          <p:cNvPicPr>
            <a:picLocks noChangeAspect="1"/>
          </p:cNvPicPr>
          <p:nvPr/>
        </p:nvPicPr>
        <p:blipFill>
          <a:blip r:embed="rId3"/>
          <a:stretch>
            <a:fillRect/>
          </a:stretch>
        </p:blipFill>
        <p:spPr>
          <a:xfrm>
            <a:off x="9832" y="2365249"/>
            <a:ext cx="12192000" cy="2646556"/>
          </a:xfrm>
          <a:prstGeom prst="rect">
            <a:avLst/>
          </a:prstGeom>
        </p:spPr>
      </p:pic>
      <p:sp>
        <p:nvSpPr>
          <p:cNvPr id="7" name="TextBox 6">
            <a:extLst>
              <a:ext uri="{FF2B5EF4-FFF2-40B4-BE49-F238E27FC236}">
                <a16:creationId xmlns:a16="http://schemas.microsoft.com/office/drawing/2014/main" id="{A476396A-5B9B-43FA-BAB7-72ED3D2CE477}"/>
              </a:ext>
            </a:extLst>
          </p:cNvPr>
          <p:cNvSpPr txBox="1"/>
          <p:nvPr/>
        </p:nvSpPr>
        <p:spPr>
          <a:xfrm>
            <a:off x="6555416" y="859458"/>
            <a:ext cx="4745210" cy="646331"/>
          </a:xfrm>
          <a:prstGeom prst="rect">
            <a:avLst/>
          </a:prstGeom>
          <a:gradFill>
            <a:gsLst>
              <a:gs pos="0">
                <a:schemeClr val="bg2">
                  <a:lumMod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none" rtlCol="0">
            <a:spAutoFit/>
          </a:bodyPr>
          <a:lstStyle/>
          <a:p>
            <a:r>
              <a:rPr lang="en-US" sz="3600" dirty="0">
                <a:latin typeface="Algerian" panose="04020705040A02060702" pitchFamily="82" charset="0"/>
              </a:rPr>
              <a:t>2.REQUEST SERVICES</a:t>
            </a:r>
            <a:endParaRPr lang="en-IN" sz="3600" dirty="0">
              <a:latin typeface="Algerian" panose="04020705040A02060702" pitchFamily="82" charset="0"/>
            </a:endParaRPr>
          </a:p>
        </p:txBody>
      </p:sp>
    </p:spTree>
    <p:extLst>
      <p:ext uri="{BB962C8B-B14F-4D97-AF65-F5344CB8AC3E}">
        <p14:creationId xmlns:p14="http://schemas.microsoft.com/office/powerpoint/2010/main" val="40113909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0A5D4-9FFF-8FBB-EC58-0D89A59849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21CD23-CB1F-92D5-F28F-5601BB03AC49}"/>
              </a:ext>
            </a:extLst>
          </p:cNvPr>
          <p:cNvSpPr/>
          <p:nvPr/>
        </p:nvSpPr>
        <p:spPr>
          <a:xfrm>
            <a:off x="9832" y="0"/>
            <a:ext cx="12192000" cy="1219200"/>
          </a:xfrm>
          <a:prstGeom prst="rect">
            <a:avLst/>
          </a:prstGeom>
          <a:solidFill>
            <a:srgbClr val="2E7D5B"/>
          </a:solidFill>
          <a:ln w="12700">
            <a:solidFill>
              <a:srgbClr val="2E7D5B"/>
            </a:solidFill>
            <a:prstDash val="solid"/>
          </a:ln>
        </p:spPr>
      </p:sp>
      <p:sp>
        <p:nvSpPr>
          <p:cNvPr id="3" name="Shape 1">
            <a:extLst>
              <a:ext uri="{FF2B5EF4-FFF2-40B4-BE49-F238E27FC236}">
                <a16:creationId xmlns:a16="http://schemas.microsoft.com/office/drawing/2014/main" id="{A7971C2E-4C59-6280-C72C-79D59A39352F}"/>
              </a:ext>
            </a:extLst>
          </p:cNvPr>
          <p:cNvSpPr/>
          <p:nvPr/>
        </p:nvSpPr>
        <p:spPr>
          <a:xfrm>
            <a:off x="0" y="1146048"/>
            <a:ext cx="12192000" cy="73152"/>
          </a:xfrm>
          <a:prstGeom prst="rect">
            <a:avLst/>
          </a:prstGeom>
          <a:solidFill>
            <a:srgbClr val="C49A2A"/>
          </a:solidFill>
          <a:ln w="12700">
            <a:solidFill>
              <a:srgbClr val="C49A2A"/>
            </a:solidFill>
            <a:prstDash val="solid"/>
          </a:ln>
        </p:spPr>
      </p:sp>
      <p:sp>
        <p:nvSpPr>
          <p:cNvPr id="4" name="Text 2">
            <a:extLst>
              <a:ext uri="{FF2B5EF4-FFF2-40B4-BE49-F238E27FC236}">
                <a16:creationId xmlns:a16="http://schemas.microsoft.com/office/drawing/2014/main" id="{57814888-44A7-D0AF-CADB-3E964150BC4B}"/>
              </a:ext>
            </a:extLst>
          </p:cNvPr>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Employee Module</a:t>
            </a:r>
            <a:endParaRPr lang="en-US" sz="3467" dirty="0"/>
          </a:p>
        </p:txBody>
      </p:sp>
      <p:pic>
        <p:nvPicPr>
          <p:cNvPr id="8" name="Picture 7">
            <a:extLst>
              <a:ext uri="{FF2B5EF4-FFF2-40B4-BE49-F238E27FC236}">
                <a16:creationId xmlns:a16="http://schemas.microsoft.com/office/drawing/2014/main" id="{D973E6C0-41E6-28BA-0DE1-B9CB5A6E8F2E}"/>
              </a:ext>
            </a:extLst>
          </p:cNvPr>
          <p:cNvPicPr>
            <a:picLocks noChangeAspect="1"/>
          </p:cNvPicPr>
          <p:nvPr/>
        </p:nvPicPr>
        <p:blipFill>
          <a:blip r:embed="rId3"/>
          <a:srcRect r="24365"/>
          <a:stretch>
            <a:fillRect/>
          </a:stretch>
        </p:blipFill>
        <p:spPr>
          <a:xfrm>
            <a:off x="2193049" y="1338514"/>
            <a:ext cx="7049273" cy="2644369"/>
          </a:xfrm>
          <a:prstGeom prst="rect">
            <a:avLst/>
          </a:prstGeom>
        </p:spPr>
      </p:pic>
      <p:pic>
        <p:nvPicPr>
          <p:cNvPr id="10" name="Picture 9">
            <a:extLst>
              <a:ext uri="{FF2B5EF4-FFF2-40B4-BE49-F238E27FC236}">
                <a16:creationId xmlns:a16="http://schemas.microsoft.com/office/drawing/2014/main" id="{0A2C84AA-6192-850A-B9C0-961BFCDBF790}"/>
              </a:ext>
            </a:extLst>
          </p:cNvPr>
          <p:cNvPicPr>
            <a:picLocks noChangeAspect="1"/>
          </p:cNvPicPr>
          <p:nvPr/>
        </p:nvPicPr>
        <p:blipFill>
          <a:blip r:embed="rId4"/>
          <a:srcRect r="13711"/>
          <a:stretch>
            <a:fillRect/>
          </a:stretch>
        </p:blipFill>
        <p:spPr>
          <a:xfrm>
            <a:off x="2193049" y="4233877"/>
            <a:ext cx="7049273" cy="2571218"/>
          </a:xfrm>
          <a:prstGeom prst="rect">
            <a:avLst/>
          </a:prstGeom>
        </p:spPr>
      </p:pic>
      <p:sp>
        <p:nvSpPr>
          <p:cNvPr id="5" name="TextBox 4">
            <a:extLst>
              <a:ext uri="{FF2B5EF4-FFF2-40B4-BE49-F238E27FC236}">
                <a16:creationId xmlns:a16="http://schemas.microsoft.com/office/drawing/2014/main" id="{FFAC83A5-C176-3663-0B88-AEE02DAF6506}"/>
              </a:ext>
            </a:extLst>
          </p:cNvPr>
          <p:cNvSpPr txBox="1"/>
          <p:nvPr/>
        </p:nvSpPr>
        <p:spPr>
          <a:xfrm>
            <a:off x="6968942" y="425262"/>
            <a:ext cx="4745210" cy="646331"/>
          </a:xfrm>
          <a:prstGeom prst="rect">
            <a:avLst/>
          </a:prstGeom>
          <a:gradFill>
            <a:gsLst>
              <a:gs pos="0">
                <a:schemeClr val="tx2">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none" rtlCol="0">
            <a:spAutoFit/>
          </a:bodyPr>
          <a:lstStyle/>
          <a:p>
            <a:r>
              <a:rPr lang="en-US" sz="3600" dirty="0">
                <a:latin typeface="Algerian" panose="04020705040A02060702" pitchFamily="82" charset="0"/>
              </a:rPr>
              <a:t>2.REQUEST SERVICES</a:t>
            </a:r>
            <a:endParaRPr lang="en-IN" sz="3600" dirty="0">
              <a:latin typeface="Algerian" panose="04020705040A02060702" pitchFamily="82" charset="0"/>
            </a:endParaRPr>
          </a:p>
        </p:txBody>
      </p:sp>
    </p:spTree>
    <p:extLst>
      <p:ext uri="{BB962C8B-B14F-4D97-AF65-F5344CB8AC3E}">
        <p14:creationId xmlns:p14="http://schemas.microsoft.com/office/powerpoint/2010/main" val="28968854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558A5-EA38-D069-06F8-E8F35250AB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EDC1C14-FC64-20CF-6220-0D2D71B64A3C}"/>
              </a:ext>
            </a:extLst>
          </p:cNvPr>
          <p:cNvSpPr/>
          <p:nvPr/>
        </p:nvSpPr>
        <p:spPr>
          <a:xfrm>
            <a:off x="0" y="0"/>
            <a:ext cx="12192000" cy="1219200"/>
          </a:xfrm>
          <a:prstGeom prst="rect">
            <a:avLst/>
          </a:prstGeom>
          <a:solidFill>
            <a:srgbClr val="2E7D5B"/>
          </a:solidFill>
          <a:ln w="12700">
            <a:solidFill>
              <a:srgbClr val="2E7D5B"/>
            </a:solidFill>
            <a:prstDash val="solid"/>
          </a:ln>
        </p:spPr>
      </p:sp>
      <p:sp>
        <p:nvSpPr>
          <p:cNvPr id="3" name="Shape 1">
            <a:extLst>
              <a:ext uri="{FF2B5EF4-FFF2-40B4-BE49-F238E27FC236}">
                <a16:creationId xmlns:a16="http://schemas.microsoft.com/office/drawing/2014/main" id="{21843591-D388-2924-DF24-6FD315FD0C1B}"/>
              </a:ext>
            </a:extLst>
          </p:cNvPr>
          <p:cNvSpPr/>
          <p:nvPr/>
        </p:nvSpPr>
        <p:spPr>
          <a:xfrm>
            <a:off x="0" y="1146048"/>
            <a:ext cx="12192000" cy="73152"/>
          </a:xfrm>
          <a:prstGeom prst="rect">
            <a:avLst/>
          </a:prstGeom>
          <a:solidFill>
            <a:srgbClr val="C49A2A"/>
          </a:solidFill>
          <a:ln w="12700">
            <a:solidFill>
              <a:srgbClr val="C49A2A"/>
            </a:solidFill>
            <a:prstDash val="solid"/>
          </a:ln>
        </p:spPr>
      </p:sp>
      <p:sp>
        <p:nvSpPr>
          <p:cNvPr id="4" name="Text 2">
            <a:extLst>
              <a:ext uri="{FF2B5EF4-FFF2-40B4-BE49-F238E27FC236}">
                <a16:creationId xmlns:a16="http://schemas.microsoft.com/office/drawing/2014/main" id="{C93B2498-11AC-33E5-CD3F-DB36AA59647C}"/>
              </a:ext>
            </a:extLst>
          </p:cNvPr>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Employee Module</a:t>
            </a:r>
            <a:endParaRPr lang="en-US" sz="3467" dirty="0"/>
          </a:p>
        </p:txBody>
      </p:sp>
      <p:sp>
        <p:nvSpPr>
          <p:cNvPr id="13" name="TextBox 12">
            <a:extLst>
              <a:ext uri="{FF2B5EF4-FFF2-40B4-BE49-F238E27FC236}">
                <a16:creationId xmlns:a16="http://schemas.microsoft.com/office/drawing/2014/main" id="{F8E309BD-1857-19C7-18A9-CF3D9CCD310F}"/>
              </a:ext>
            </a:extLst>
          </p:cNvPr>
          <p:cNvSpPr txBox="1"/>
          <p:nvPr/>
        </p:nvSpPr>
        <p:spPr>
          <a:xfrm>
            <a:off x="6478414" y="792325"/>
            <a:ext cx="5044971" cy="646331"/>
          </a:xfrm>
          <a:prstGeom prst="rect">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none" rtlCol="0">
            <a:spAutoFit/>
          </a:bodyPr>
          <a:lstStyle/>
          <a:p>
            <a:r>
              <a:rPr lang="en-US" sz="3600" dirty="0">
                <a:latin typeface="Algerian" panose="04020705040A02060702" pitchFamily="82" charset="0"/>
              </a:rPr>
              <a:t>3.LEAVE APPLICATION</a:t>
            </a:r>
            <a:endParaRPr lang="en-IN" sz="3600" dirty="0">
              <a:latin typeface="Algerian" panose="04020705040A02060702" pitchFamily="82" charset="0"/>
            </a:endParaRPr>
          </a:p>
        </p:txBody>
      </p:sp>
      <p:pic>
        <p:nvPicPr>
          <p:cNvPr id="6" name="Picture 5">
            <a:extLst>
              <a:ext uri="{FF2B5EF4-FFF2-40B4-BE49-F238E27FC236}">
                <a16:creationId xmlns:a16="http://schemas.microsoft.com/office/drawing/2014/main" id="{545D62E7-1153-AB0E-604B-E7B726AF674D}"/>
              </a:ext>
            </a:extLst>
          </p:cNvPr>
          <p:cNvPicPr>
            <a:picLocks noChangeAspect="1"/>
          </p:cNvPicPr>
          <p:nvPr/>
        </p:nvPicPr>
        <p:blipFill>
          <a:blip r:embed="rId3">
            <a:extLst>
              <a:ext uri="{28A0092B-C50C-407E-A947-70E740481C1C}">
                <a14:useLocalDpi xmlns:a14="http://schemas.microsoft.com/office/drawing/2010/main" val="0"/>
              </a:ext>
            </a:extLst>
          </a:blip>
          <a:srcRect t="31682" r="50348" b="2718"/>
          <a:stretch>
            <a:fillRect/>
          </a:stretch>
        </p:blipFill>
        <p:spPr>
          <a:xfrm>
            <a:off x="5986783" y="3167105"/>
            <a:ext cx="6028235" cy="3485339"/>
          </a:xfrm>
          <a:prstGeom prst="rect">
            <a:avLst/>
          </a:prstGeom>
        </p:spPr>
      </p:pic>
      <p:pic>
        <p:nvPicPr>
          <p:cNvPr id="8" name="Picture 7">
            <a:extLst>
              <a:ext uri="{FF2B5EF4-FFF2-40B4-BE49-F238E27FC236}">
                <a16:creationId xmlns:a16="http://schemas.microsoft.com/office/drawing/2014/main" id="{CA7B74D9-0F66-7884-00B7-C071221FB217}"/>
              </a:ext>
            </a:extLst>
          </p:cNvPr>
          <p:cNvPicPr>
            <a:picLocks noChangeAspect="1"/>
          </p:cNvPicPr>
          <p:nvPr/>
        </p:nvPicPr>
        <p:blipFill>
          <a:blip r:embed="rId4"/>
          <a:stretch>
            <a:fillRect/>
          </a:stretch>
        </p:blipFill>
        <p:spPr>
          <a:xfrm>
            <a:off x="176982" y="1353312"/>
            <a:ext cx="5604635" cy="3924153"/>
          </a:xfrm>
          <a:prstGeom prst="rect">
            <a:avLst/>
          </a:prstGeom>
        </p:spPr>
      </p:pic>
    </p:spTree>
    <p:extLst>
      <p:ext uri="{BB962C8B-B14F-4D97-AF65-F5344CB8AC3E}">
        <p14:creationId xmlns:p14="http://schemas.microsoft.com/office/powerpoint/2010/main" val="2752241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a:extLst>
            <a:ext uri="{FF2B5EF4-FFF2-40B4-BE49-F238E27FC236}">
              <a16:creationId xmlns:a16="http://schemas.microsoft.com/office/drawing/2014/main" id="{54A4AD6D-7EB2-2428-9FE4-448D9E626D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EED263-B23B-4318-D5A6-999C1D3D2680}"/>
              </a:ext>
            </a:extLst>
          </p:cNvPr>
          <p:cNvSpPr txBox="1"/>
          <p:nvPr/>
        </p:nvSpPr>
        <p:spPr>
          <a:xfrm>
            <a:off x="4503175" y="2428568"/>
            <a:ext cx="4257367" cy="2308324"/>
          </a:xfrm>
          <a:prstGeom prst="rect">
            <a:avLst/>
          </a:prstGeom>
          <a:noFill/>
        </p:spPr>
        <p:txBody>
          <a:bodyPr wrap="square" rtlCol="0">
            <a:spAutoFit/>
          </a:bodyPr>
          <a:lstStyle/>
          <a:p>
            <a:r>
              <a:rPr lang="en-US" sz="4800" dirty="0">
                <a:solidFill>
                  <a:srgbClr val="FF9900"/>
                </a:solidFill>
                <a:latin typeface="Aparajita" panose="02020603050405020304" pitchFamily="18" charset="0"/>
                <a:cs typeface="Aparajita" panose="02020603050405020304" pitchFamily="18" charset="0"/>
              </a:rPr>
              <a:t> ADMIN</a:t>
            </a:r>
          </a:p>
          <a:p>
            <a:endParaRPr lang="en-US" sz="4800" dirty="0">
              <a:solidFill>
                <a:srgbClr val="FF9900"/>
              </a:solidFill>
              <a:latin typeface="Aparajita" panose="02020603050405020304" pitchFamily="18" charset="0"/>
              <a:cs typeface="Aparajita" panose="02020603050405020304" pitchFamily="18" charset="0"/>
            </a:endParaRPr>
          </a:p>
          <a:p>
            <a:r>
              <a:rPr lang="en-US" sz="4800" dirty="0">
                <a:solidFill>
                  <a:srgbClr val="FF9900"/>
                </a:solidFill>
                <a:latin typeface="Aparajita" panose="02020603050405020304" pitchFamily="18" charset="0"/>
                <a:cs typeface="Aparajita" panose="02020603050405020304" pitchFamily="18" charset="0"/>
              </a:rPr>
              <a:t>(CASE 3)</a:t>
            </a:r>
            <a:endParaRPr lang="en-IN" sz="4800" dirty="0">
              <a:solidFill>
                <a:srgbClr val="FF9900"/>
              </a:solidFill>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4237831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46176"/>
          </a:xfrm>
          <a:prstGeom prst="rect">
            <a:avLst/>
          </a:prstGeom>
          <a:solidFill>
            <a:srgbClr val="7B3F8E"/>
          </a:solidFill>
          <a:ln w="12700">
            <a:solidFill>
              <a:srgbClr val="7B3F8E"/>
            </a:solidFill>
            <a:prstDash val="solid"/>
          </a:ln>
        </p:spPr>
      </p:sp>
      <p:sp>
        <p:nvSpPr>
          <p:cNvPr id="3" name="Shape 1"/>
          <p:cNvSpPr/>
          <p:nvPr/>
        </p:nvSpPr>
        <p:spPr>
          <a:xfrm>
            <a:off x="0" y="628478"/>
            <a:ext cx="12192000" cy="73152"/>
          </a:xfrm>
          <a:prstGeom prst="rect">
            <a:avLst/>
          </a:prstGeom>
          <a:solidFill>
            <a:srgbClr val="C49A2A"/>
          </a:solidFill>
          <a:ln w="12700">
            <a:solidFill>
              <a:srgbClr val="C49A2A"/>
            </a:solidFill>
            <a:prstDash val="solid"/>
          </a:ln>
        </p:spPr>
      </p:sp>
      <p:sp>
        <p:nvSpPr>
          <p:cNvPr id="4" name="Text 2"/>
          <p:cNvSpPr/>
          <p:nvPr/>
        </p:nvSpPr>
        <p:spPr>
          <a:xfrm>
            <a:off x="123886" y="-39919"/>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Administrator Module</a:t>
            </a:r>
            <a:endParaRPr lang="en-US" sz="3467" dirty="0"/>
          </a:p>
        </p:txBody>
      </p:sp>
      <p:pic>
        <p:nvPicPr>
          <p:cNvPr id="35" name="Picture 34">
            <a:extLst>
              <a:ext uri="{FF2B5EF4-FFF2-40B4-BE49-F238E27FC236}">
                <a16:creationId xmlns:a16="http://schemas.microsoft.com/office/drawing/2014/main" id="{00C67432-1202-4B07-5F1F-FCDC708D5EB6}"/>
              </a:ext>
            </a:extLst>
          </p:cNvPr>
          <p:cNvPicPr>
            <a:picLocks noChangeAspect="1"/>
          </p:cNvPicPr>
          <p:nvPr/>
        </p:nvPicPr>
        <p:blipFill>
          <a:blip r:embed="rId3"/>
          <a:stretch>
            <a:fillRect/>
          </a:stretch>
        </p:blipFill>
        <p:spPr>
          <a:xfrm>
            <a:off x="1602658" y="792480"/>
            <a:ext cx="9193161" cy="596247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7B3F8E"/>
          </a:solidFill>
          <a:ln w="12700">
            <a:solidFill>
              <a:srgbClr val="7B3F8E"/>
            </a:solidFill>
            <a:prstDash val="solid"/>
          </a:ln>
        </p:spPr>
      </p:sp>
      <p:sp>
        <p:nvSpPr>
          <p:cNvPr id="3" name="Shape 1"/>
          <p:cNvSpPr/>
          <p:nvPr/>
        </p:nvSpPr>
        <p:spPr>
          <a:xfrm>
            <a:off x="0" y="1146048"/>
            <a:ext cx="12192000" cy="73152"/>
          </a:xfrm>
          <a:prstGeom prst="rect">
            <a:avLst/>
          </a:prstGeom>
          <a:solidFill>
            <a:srgbClr val="C49A2A"/>
          </a:solidFill>
          <a:ln w="12700">
            <a:solidFill>
              <a:srgbClr val="C49A2A"/>
            </a:solidFill>
            <a:prstDash val="solid"/>
          </a:ln>
        </p:spPr>
      </p:sp>
      <p:sp>
        <p:nvSpPr>
          <p:cNvPr id="4" name="Text 2"/>
          <p:cNvSpPr/>
          <p:nvPr/>
        </p:nvSpPr>
        <p:spPr>
          <a:xfrm>
            <a:off x="487680" y="219456"/>
            <a:ext cx="11216640" cy="792480"/>
          </a:xfrm>
          <a:prstGeom prst="rect">
            <a:avLst/>
          </a:prstGeom>
          <a:noFill/>
          <a:ln/>
        </p:spPr>
        <p:txBody>
          <a:bodyPr wrap="square" rtlCol="0" anchor="ctr"/>
          <a:lstStyle/>
          <a:p>
            <a:r>
              <a:rPr lang="en-US" sz="3467" b="1" dirty="0">
                <a:solidFill>
                  <a:srgbClr val="FFFFFF"/>
                </a:solidFill>
                <a:latin typeface="Cambria" pitchFamily="34" charset="0"/>
                <a:ea typeface="Cambria" pitchFamily="34" charset="-122"/>
                <a:cs typeface="Cambria" pitchFamily="34" charset="-120"/>
              </a:rPr>
              <a:t>Administrator Module</a:t>
            </a:r>
            <a:endParaRPr lang="en-US" sz="3467" dirty="0"/>
          </a:p>
        </p:txBody>
      </p:sp>
      <p:pic>
        <p:nvPicPr>
          <p:cNvPr id="34" name="Picture 33">
            <a:extLst>
              <a:ext uri="{FF2B5EF4-FFF2-40B4-BE49-F238E27FC236}">
                <a16:creationId xmlns:a16="http://schemas.microsoft.com/office/drawing/2014/main" id="{65685B2D-1D52-772C-06F7-30BE29B1FA50}"/>
              </a:ext>
            </a:extLst>
          </p:cNvPr>
          <p:cNvPicPr>
            <a:picLocks noChangeAspect="1"/>
          </p:cNvPicPr>
          <p:nvPr/>
        </p:nvPicPr>
        <p:blipFill>
          <a:blip r:embed="rId3"/>
          <a:srcRect r="29008"/>
          <a:stretch>
            <a:fillRect/>
          </a:stretch>
        </p:blipFill>
        <p:spPr>
          <a:xfrm>
            <a:off x="6469626" y="2141980"/>
            <a:ext cx="5429376" cy="4353509"/>
          </a:xfrm>
          <a:prstGeom prst="rect">
            <a:avLst/>
          </a:prstGeom>
        </p:spPr>
      </p:pic>
      <p:pic>
        <p:nvPicPr>
          <p:cNvPr id="36" name="Picture 35">
            <a:extLst>
              <a:ext uri="{FF2B5EF4-FFF2-40B4-BE49-F238E27FC236}">
                <a16:creationId xmlns:a16="http://schemas.microsoft.com/office/drawing/2014/main" id="{B34BF640-8E88-E33F-FE5B-063F4329EAB3}"/>
              </a:ext>
            </a:extLst>
          </p:cNvPr>
          <p:cNvPicPr>
            <a:picLocks noChangeAspect="1"/>
          </p:cNvPicPr>
          <p:nvPr/>
        </p:nvPicPr>
        <p:blipFill>
          <a:blip r:embed="rId4"/>
          <a:stretch>
            <a:fillRect/>
          </a:stretch>
        </p:blipFill>
        <p:spPr>
          <a:xfrm>
            <a:off x="124198" y="1564922"/>
            <a:ext cx="6059169" cy="35926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C49A2A"/>
          </a:solidFill>
          <a:ln w="12700">
            <a:solidFill>
              <a:srgbClr val="C49A2A"/>
            </a:solidFill>
            <a:prstDash val="solid"/>
          </a:ln>
        </p:spPr>
      </p:sp>
      <p:sp>
        <p:nvSpPr>
          <p:cNvPr id="3" name="Text 1"/>
          <p:cNvSpPr/>
          <p:nvPr/>
        </p:nvSpPr>
        <p:spPr>
          <a:xfrm>
            <a:off x="291035" y="426720"/>
            <a:ext cx="11216640" cy="670560"/>
          </a:xfrm>
          <a:prstGeom prst="rect">
            <a:avLst/>
          </a:prstGeom>
          <a:noFill/>
          <a:ln/>
        </p:spPr>
        <p:txBody>
          <a:bodyPr wrap="square" rtlCol="0" anchor="ctr"/>
          <a:lstStyle/>
          <a:p>
            <a:r>
              <a:rPr lang="en-US" sz="3200" b="1" dirty="0">
                <a:solidFill>
                  <a:srgbClr val="FFFFFF"/>
                </a:solidFill>
                <a:latin typeface="Cambria" pitchFamily="34" charset="0"/>
                <a:ea typeface="Cambria" pitchFamily="34" charset="-122"/>
                <a:cs typeface="Cambria" pitchFamily="34" charset="-120"/>
              </a:rPr>
              <a:t>Code Snapshot — Core Logic</a:t>
            </a:r>
            <a:endParaRPr lang="en-US" sz="3200" dirty="0"/>
          </a:p>
          <a:p>
            <a:endParaRPr lang="en-US" sz="2933" dirty="0"/>
          </a:p>
        </p:txBody>
      </p:sp>
      <p:sp>
        <p:nvSpPr>
          <p:cNvPr id="4" name="Shape 2"/>
          <p:cNvSpPr/>
          <p:nvPr/>
        </p:nvSpPr>
        <p:spPr>
          <a:xfrm>
            <a:off x="365760" y="1036320"/>
            <a:ext cx="11460480" cy="5364480"/>
          </a:xfrm>
          <a:prstGeom prst="roundRect">
            <a:avLst>
              <a:gd name="adj" fmla="val 1364"/>
            </a:avLst>
          </a:prstGeom>
          <a:solidFill>
            <a:srgbClr val="12121E"/>
          </a:solidFill>
          <a:ln w="6350">
            <a:solidFill>
              <a:srgbClr val="C49A2A"/>
            </a:solidFill>
            <a:prstDash val="solid"/>
          </a:ln>
        </p:spPr>
      </p:sp>
      <p:sp>
        <p:nvSpPr>
          <p:cNvPr id="5" name="Text 3"/>
          <p:cNvSpPr/>
          <p:nvPr/>
        </p:nvSpPr>
        <p:spPr>
          <a:xfrm>
            <a:off x="670560" y="1158240"/>
            <a:ext cx="10972800" cy="5120640"/>
          </a:xfrm>
          <a:prstGeom prst="rect">
            <a:avLst/>
          </a:prstGeom>
          <a:noFill/>
          <a:ln/>
        </p:spPr>
        <p:txBody>
          <a:bodyPr wrap="square" rtlCol="0" anchor="ctr"/>
          <a:lstStyle/>
          <a:p>
            <a:r>
              <a:rPr lang="en-US" sz="1600" dirty="0">
                <a:solidFill>
                  <a:srgbClr val="569CD6"/>
                </a:solidFill>
                <a:latin typeface="Courier New" pitchFamily="34" charset="0"/>
                <a:ea typeface="Courier New" pitchFamily="34" charset="-122"/>
                <a:cs typeface="Courier New" pitchFamily="34" charset="-120"/>
              </a:rPr>
              <a:t>#include &lt;stdio.h&gt;</a:t>
            </a:r>
            <a:endParaRPr lang="en-US" sz="1600" dirty="0"/>
          </a:p>
          <a:p>
            <a:r>
              <a:rPr lang="en-US" sz="1600" dirty="0">
                <a:solidFill>
                  <a:srgbClr val="569CD6"/>
                </a:solidFill>
                <a:latin typeface="Courier New" pitchFamily="34" charset="0"/>
                <a:ea typeface="Courier New" pitchFamily="34" charset="-122"/>
                <a:cs typeface="Courier New" pitchFamily="34" charset="-120"/>
              </a:rPr>
              <a:t>#include &lt;string.h&gt;</a:t>
            </a:r>
            <a:endParaRPr lang="en-US" sz="1600" dirty="0"/>
          </a:p>
          <a:p>
            <a:endParaRPr lang="en-US" sz="1600" dirty="0"/>
          </a:p>
          <a:p>
            <a:r>
              <a:rPr lang="en-US" sz="1600" dirty="0">
                <a:solidFill>
                  <a:srgbClr val="569CD6"/>
                </a:solidFill>
                <a:latin typeface="Courier New" pitchFamily="34" charset="0"/>
                <a:ea typeface="Courier New" pitchFamily="34" charset="-122"/>
                <a:cs typeface="Courier New" pitchFamily="34" charset="-120"/>
              </a:rPr>
              <a:t>int </a:t>
            </a:r>
            <a:r>
              <a:rPr lang="en-US" sz="1600" dirty="0">
                <a:solidFill>
                  <a:srgbClr val="DCDCAA"/>
                </a:solidFill>
                <a:latin typeface="Courier New" pitchFamily="34" charset="0"/>
                <a:ea typeface="Courier New" pitchFamily="34" charset="-122"/>
                <a:cs typeface="Courier New" pitchFamily="34" charset="-120"/>
              </a:rPr>
              <a:t>main</a:t>
            </a:r>
            <a:r>
              <a:rPr lang="en-US" sz="1600" dirty="0">
                <a:solidFill>
                  <a:srgbClr val="D4D4D4"/>
                </a:solidFill>
                <a:latin typeface="Courier New" pitchFamily="34" charset="0"/>
                <a:ea typeface="Courier New" pitchFamily="34" charset="-122"/>
                <a:cs typeface="Courier New" pitchFamily="34" charset="-120"/>
              </a:rPr>
              <a:t>() {</a:t>
            </a:r>
            <a:endParaRPr lang="en-US" sz="1600" dirty="0"/>
          </a:p>
          <a:p>
            <a:r>
              <a:rPr lang="en-US" sz="1600" dirty="0">
                <a:solidFill>
                  <a:srgbClr val="DCDCAA"/>
                </a:solidFill>
                <a:latin typeface="Courier New" pitchFamily="34" charset="0"/>
                <a:ea typeface="Courier New" pitchFamily="34" charset="-122"/>
                <a:cs typeface="Courier New" pitchFamily="34" charset="-120"/>
              </a:rPr>
              <a:t>  printf</a:t>
            </a:r>
            <a:r>
              <a:rPr lang="en-US" sz="1600" dirty="0">
                <a:solidFill>
                  <a:srgbClr val="CE9178"/>
                </a:solidFill>
                <a:latin typeface="Courier New" pitchFamily="34" charset="0"/>
                <a:ea typeface="Courier New" pitchFamily="34" charset="-122"/>
                <a:cs typeface="Courier New" pitchFamily="34" charset="-120"/>
              </a:rPr>
              <a:t>("WELCOME TO CADD MULTI-SPECIALITY HOSPITAL");</a:t>
            </a:r>
            <a:endParaRPr lang="en-US" sz="1600" dirty="0"/>
          </a:p>
          <a:p>
            <a:r>
              <a:rPr lang="en-US" sz="1600" dirty="0">
                <a:solidFill>
                  <a:srgbClr val="569CD6"/>
                </a:solidFill>
                <a:latin typeface="Courier New" pitchFamily="34" charset="0"/>
                <a:ea typeface="Courier New" pitchFamily="34" charset="-122"/>
                <a:cs typeface="Courier New" pitchFamily="34" charset="-120"/>
              </a:rPr>
              <a:t>  int </a:t>
            </a:r>
            <a:r>
              <a:rPr lang="en-US" sz="1600" dirty="0">
                <a:solidFill>
                  <a:srgbClr val="9CDCFE"/>
                </a:solidFill>
                <a:latin typeface="Courier New" pitchFamily="34" charset="0"/>
                <a:ea typeface="Courier New" pitchFamily="34" charset="-122"/>
                <a:cs typeface="Courier New" pitchFamily="34" charset="-120"/>
              </a:rPr>
              <a:t>Pr;  </a:t>
            </a:r>
            <a:r>
              <a:rPr lang="en-US" sz="1600" dirty="0">
                <a:solidFill>
                  <a:srgbClr val="6A9955"/>
                </a:solidFill>
                <a:latin typeface="Courier New" pitchFamily="34" charset="0"/>
                <a:ea typeface="Courier New" pitchFamily="34" charset="-122"/>
                <a:cs typeface="Courier New" pitchFamily="34" charset="-120"/>
              </a:rPr>
              <a:t>// Person's role (1=Patient, 2=Employee, 3=Admin)</a:t>
            </a:r>
            <a:endParaRPr lang="en-US" sz="1600" dirty="0"/>
          </a:p>
          <a:p>
            <a:r>
              <a:rPr lang="en-US" sz="1600" dirty="0">
                <a:solidFill>
                  <a:srgbClr val="DCDCAA"/>
                </a:solidFill>
                <a:latin typeface="Courier New" pitchFamily="34" charset="0"/>
                <a:ea typeface="Courier New" pitchFamily="34" charset="-122"/>
                <a:cs typeface="Courier New" pitchFamily="34" charset="-120"/>
              </a:rPr>
              <a:t>  scanf</a:t>
            </a:r>
            <a:r>
              <a:rPr lang="en-US" sz="1600" dirty="0">
                <a:solidFill>
                  <a:srgbClr val="CE9178"/>
                </a:solidFill>
                <a:latin typeface="Courier New" pitchFamily="34" charset="0"/>
                <a:ea typeface="Courier New" pitchFamily="34" charset="-122"/>
                <a:cs typeface="Courier New" pitchFamily="34" charset="-120"/>
              </a:rPr>
              <a:t>("%d", &amp;Pr);</a:t>
            </a:r>
            <a:endParaRPr lang="en-US" sz="1600" dirty="0"/>
          </a:p>
          <a:p>
            <a:r>
              <a:rPr lang="en-US" sz="1600" dirty="0">
                <a:solidFill>
                  <a:srgbClr val="C586C0"/>
                </a:solidFill>
                <a:latin typeface="Courier New" pitchFamily="34" charset="0"/>
                <a:ea typeface="Courier New" pitchFamily="34" charset="-122"/>
                <a:cs typeface="Courier New" pitchFamily="34" charset="-120"/>
              </a:rPr>
              <a:t>  switch</a:t>
            </a:r>
            <a:r>
              <a:rPr lang="en-US" sz="1600" dirty="0">
                <a:solidFill>
                  <a:srgbClr val="D4D4D4"/>
                </a:solidFill>
                <a:latin typeface="Courier New" pitchFamily="34" charset="0"/>
                <a:ea typeface="Courier New" pitchFamily="34" charset="-122"/>
                <a:cs typeface="Courier New" pitchFamily="34" charset="-120"/>
              </a:rPr>
              <a:t>(Pr) {</a:t>
            </a:r>
            <a:endParaRPr lang="en-US" sz="1600" dirty="0"/>
          </a:p>
          <a:p>
            <a:r>
              <a:rPr lang="en-US" sz="1600" dirty="0">
                <a:solidFill>
                  <a:srgbClr val="569CD6"/>
                </a:solidFill>
                <a:latin typeface="Courier New" pitchFamily="34" charset="0"/>
                <a:ea typeface="Courier New" pitchFamily="34" charset="-122"/>
                <a:cs typeface="Courier New" pitchFamily="34" charset="-120"/>
              </a:rPr>
              <a:t>    case 1:</a:t>
            </a:r>
            <a:r>
              <a:rPr lang="en-US" sz="1600" dirty="0">
                <a:solidFill>
                  <a:srgbClr val="6A9955"/>
                </a:solidFill>
                <a:latin typeface="Courier New" pitchFamily="34" charset="0"/>
                <a:ea typeface="Courier New" pitchFamily="34" charset="-122"/>
                <a:cs typeface="Courier New" pitchFamily="34" charset="-120"/>
              </a:rPr>
              <a:t>  // Patient Registration &amp; Department Routing</a:t>
            </a:r>
            <a:endParaRPr lang="en-US" sz="1600" dirty="0"/>
          </a:p>
          <a:p>
            <a:r>
              <a:rPr lang="en-US" sz="1600" dirty="0">
                <a:solidFill>
                  <a:srgbClr val="569CD6"/>
                </a:solidFill>
                <a:latin typeface="Courier New" pitchFamily="34" charset="0"/>
                <a:ea typeface="Courier New" pitchFamily="34" charset="-122"/>
                <a:cs typeface="Courier New" pitchFamily="34" charset="-120"/>
              </a:rPr>
              <a:t>    case 2:</a:t>
            </a:r>
            <a:r>
              <a:rPr lang="en-US" sz="1600" dirty="0">
                <a:solidFill>
                  <a:srgbClr val="6A9955"/>
                </a:solidFill>
                <a:latin typeface="Courier New" pitchFamily="34" charset="0"/>
                <a:ea typeface="Courier New" pitchFamily="34" charset="-122"/>
                <a:cs typeface="Courier New" pitchFamily="34" charset="-120"/>
              </a:rPr>
              <a:t>  // Employee Management (Join / Request / Leave)</a:t>
            </a:r>
            <a:endParaRPr lang="en-US" sz="1600" dirty="0"/>
          </a:p>
          <a:p>
            <a:r>
              <a:rPr lang="en-US" sz="1600" dirty="0">
                <a:solidFill>
                  <a:srgbClr val="569CD6"/>
                </a:solidFill>
                <a:latin typeface="Courier New" pitchFamily="34" charset="0"/>
                <a:ea typeface="Courier New" pitchFamily="34" charset="-122"/>
                <a:cs typeface="Courier New" pitchFamily="34" charset="-120"/>
              </a:rPr>
              <a:t>    case 3:</a:t>
            </a:r>
            <a:r>
              <a:rPr lang="en-US" sz="1600" dirty="0">
                <a:solidFill>
                  <a:srgbClr val="6A9955"/>
                </a:solidFill>
                <a:latin typeface="Courier New" pitchFamily="34" charset="0"/>
                <a:ea typeface="Courier New" pitchFamily="34" charset="-122"/>
                <a:cs typeface="Courier New" pitchFamily="34" charset="-120"/>
              </a:rPr>
              <a:t>  // Administrator Dashboard</a:t>
            </a:r>
            <a:endParaRPr lang="en-US" sz="1600" dirty="0"/>
          </a:p>
          <a:p>
            <a:r>
              <a:rPr lang="en-US" sz="1600" dirty="0">
                <a:solidFill>
                  <a:srgbClr val="D4D4D4"/>
                </a:solidFill>
                <a:latin typeface="Courier New" pitchFamily="34" charset="0"/>
                <a:ea typeface="Courier New" pitchFamily="34" charset="-122"/>
                <a:cs typeface="Courier New" pitchFamily="34" charset="-120"/>
              </a:rPr>
              <a:t>  }</a:t>
            </a:r>
            <a:endParaRPr lang="en-US" sz="1600" dirty="0"/>
          </a:p>
          <a:p>
            <a:r>
              <a:rPr lang="en-US" sz="1600" dirty="0">
                <a:solidFill>
                  <a:srgbClr val="D4D4D4"/>
                </a:solidFill>
                <a:latin typeface="Courier New" pitchFamily="34" charset="0"/>
                <a:ea typeface="Courier New" pitchFamily="34" charset="-122"/>
                <a:cs typeface="Courier New" pitchFamily="34" charset="-120"/>
              </a:rPr>
              <a:t>}</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C49A2A"/>
          </a:solidFill>
          <a:ln w="12700">
            <a:solidFill>
              <a:srgbClr val="C49A2A"/>
            </a:solidFill>
            <a:prstDash val="solid"/>
          </a:ln>
        </p:spPr>
      </p:sp>
      <p:sp>
        <p:nvSpPr>
          <p:cNvPr id="3" name="Shape 1"/>
          <p:cNvSpPr/>
          <p:nvPr/>
        </p:nvSpPr>
        <p:spPr>
          <a:xfrm>
            <a:off x="0" y="6772656"/>
            <a:ext cx="12192000" cy="85344"/>
          </a:xfrm>
          <a:prstGeom prst="rect">
            <a:avLst/>
          </a:prstGeom>
          <a:solidFill>
            <a:srgbClr val="C49A2A"/>
          </a:solidFill>
          <a:ln w="12700">
            <a:solidFill>
              <a:srgbClr val="C49A2A"/>
            </a:solidFill>
            <a:prstDash val="solid"/>
          </a:ln>
        </p:spPr>
      </p:sp>
      <p:sp>
        <p:nvSpPr>
          <p:cNvPr id="4" name="Text 2"/>
          <p:cNvSpPr/>
          <p:nvPr/>
        </p:nvSpPr>
        <p:spPr>
          <a:xfrm>
            <a:off x="487680" y="304800"/>
            <a:ext cx="11216640" cy="731520"/>
          </a:xfrm>
          <a:prstGeom prst="rect">
            <a:avLst/>
          </a:prstGeom>
          <a:noFill/>
          <a:ln/>
        </p:spPr>
        <p:txBody>
          <a:bodyPr wrap="square" rtlCol="0" anchor="ctr"/>
          <a:lstStyle/>
          <a:p>
            <a:r>
              <a:rPr lang="en-US" sz="3733" b="1" dirty="0">
                <a:solidFill>
                  <a:srgbClr val="FFFFFF"/>
                </a:solidFill>
                <a:latin typeface="Cambria" pitchFamily="34" charset="0"/>
                <a:ea typeface="Cambria" pitchFamily="34" charset="-122"/>
                <a:cs typeface="Cambria" pitchFamily="34" charset="-120"/>
              </a:rPr>
              <a:t>Conclusion</a:t>
            </a:r>
            <a:endParaRPr lang="en-US" sz="3733" dirty="0"/>
          </a:p>
        </p:txBody>
      </p:sp>
      <p:sp>
        <p:nvSpPr>
          <p:cNvPr id="5" name="Shape 3"/>
          <p:cNvSpPr/>
          <p:nvPr/>
        </p:nvSpPr>
        <p:spPr>
          <a:xfrm>
            <a:off x="487680" y="1036320"/>
            <a:ext cx="11216640" cy="48768"/>
          </a:xfrm>
          <a:prstGeom prst="rect">
            <a:avLst/>
          </a:prstGeom>
          <a:solidFill>
            <a:srgbClr val="C49A2A"/>
          </a:solidFill>
          <a:ln w="12700">
            <a:solidFill>
              <a:srgbClr val="C49A2A"/>
            </a:solidFill>
            <a:prstDash val="solid"/>
          </a:ln>
        </p:spPr>
      </p:sp>
      <p:sp>
        <p:nvSpPr>
          <p:cNvPr id="6" name="Text 4"/>
          <p:cNvSpPr/>
          <p:nvPr/>
        </p:nvSpPr>
        <p:spPr>
          <a:xfrm>
            <a:off x="487680" y="1194816"/>
            <a:ext cx="11216640" cy="1219200"/>
          </a:xfrm>
          <a:prstGeom prst="rect">
            <a:avLst/>
          </a:prstGeom>
          <a:noFill/>
          <a:ln/>
        </p:spPr>
        <p:txBody>
          <a:bodyPr wrap="square" rtlCol="0" anchor="ctr"/>
          <a:lstStyle/>
          <a:p>
            <a:r>
              <a:rPr lang="en-US" sz="1733" dirty="0">
                <a:solidFill>
                  <a:srgbClr val="CADCFC"/>
                </a:solidFill>
                <a:latin typeface="Calibri" pitchFamily="34" charset="0"/>
                <a:ea typeface="Calibri" pitchFamily="34" charset="-122"/>
                <a:cs typeface="Calibri" pitchFamily="34" charset="-120"/>
              </a:rPr>
              <a:t>The CADD Multi-Speciality Hospital Management System demonstrates the practical application of C programming in real-world healthcare contexts. Leveraging core C constructs — conditional logic, switch-case routing, file I/O, and structured data — the system efficiently handles three distinct user roles.</a:t>
            </a:r>
            <a:endParaRPr lang="en-US" sz="1733" dirty="0"/>
          </a:p>
        </p:txBody>
      </p:sp>
      <p:sp>
        <p:nvSpPr>
          <p:cNvPr id="7" name="Text 5"/>
          <p:cNvSpPr/>
          <p:nvPr/>
        </p:nvSpPr>
        <p:spPr>
          <a:xfrm>
            <a:off x="487680" y="2560320"/>
            <a:ext cx="11216640" cy="2804160"/>
          </a:xfrm>
          <a:prstGeom prst="rect">
            <a:avLst/>
          </a:prstGeom>
          <a:noFill/>
          <a:ln/>
        </p:spPr>
        <p:txBody>
          <a:bodyPr wrap="square" rtlCol="0" anchor="ctr"/>
          <a:lstStyle/>
          <a:p>
            <a:pPr marL="457189" indent="-457189">
              <a:buSzPct val="100000"/>
              <a:buChar char="•"/>
            </a:pPr>
            <a:r>
              <a:rPr lang="en-US" sz="1867" dirty="0">
                <a:solidFill>
                  <a:srgbClr val="FFFFFF"/>
                </a:solidFill>
                <a:latin typeface="Calibri" pitchFamily="34" charset="0"/>
                <a:ea typeface="Calibri" pitchFamily="34" charset="-122"/>
                <a:cs typeface="Calibri" pitchFamily="34" charset="-120"/>
              </a:rPr>
              <a:t>Demonstrates real-world use of C constructs</a:t>
            </a:r>
            <a:endParaRPr lang="en-US" sz="1867" dirty="0"/>
          </a:p>
          <a:p>
            <a:pPr marL="457189" indent="-457189">
              <a:buSzPct val="100000"/>
              <a:buChar char="•"/>
            </a:pPr>
            <a:r>
              <a:rPr lang="en-US" sz="1867" dirty="0">
                <a:solidFill>
                  <a:srgbClr val="FFFFFF"/>
                </a:solidFill>
                <a:latin typeface="Calibri" pitchFamily="34" charset="0"/>
                <a:ea typeface="Calibri" pitchFamily="34" charset="-122"/>
                <a:cs typeface="Calibri" pitchFamily="34" charset="-120"/>
              </a:rPr>
              <a:t>Role-based access improves system integrity</a:t>
            </a:r>
            <a:endParaRPr lang="en-US" sz="1867" dirty="0"/>
          </a:p>
          <a:p>
            <a:pPr marL="457189" indent="-457189">
              <a:buSzPct val="100000"/>
              <a:buChar char="•"/>
            </a:pPr>
            <a:r>
              <a:rPr lang="en-US" sz="1867" dirty="0">
                <a:solidFill>
                  <a:srgbClr val="FFFFFF"/>
                </a:solidFill>
                <a:latin typeface="Calibri" pitchFamily="34" charset="0"/>
                <a:ea typeface="Calibri" pitchFamily="34" charset="-122"/>
                <a:cs typeface="Calibri" pitchFamily="34" charset="-120"/>
              </a:rPr>
              <a:t>Symptom-based routing enhances patient care</a:t>
            </a:r>
            <a:endParaRPr lang="en-US" sz="1867" dirty="0"/>
          </a:p>
          <a:p>
            <a:pPr marL="457189" indent="-457189">
              <a:buSzPct val="100000"/>
              <a:buChar char="•"/>
            </a:pPr>
            <a:r>
              <a:rPr lang="en-US" sz="1867" dirty="0">
                <a:solidFill>
                  <a:srgbClr val="FFFFFF"/>
                </a:solidFill>
                <a:latin typeface="Calibri" pitchFamily="34" charset="0"/>
                <a:ea typeface="Calibri" pitchFamily="34" charset="-122"/>
                <a:cs typeface="Calibri" pitchFamily="34" charset="-120"/>
              </a:rPr>
              <a:t>File I/O ensures persistent employee records</a:t>
            </a:r>
            <a:endParaRPr lang="en-US" sz="1867" dirty="0"/>
          </a:p>
          <a:p>
            <a:pPr marL="457189" indent="-457189">
              <a:buSzPct val="100000"/>
              <a:buChar char="•"/>
            </a:pPr>
            <a:r>
              <a:rPr lang="en-US" sz="1867" dirty="0">
                <a:solidFill>
                  <a:srgbClr val="FFFFFF"/>
                </a:solidFill>
                <a:latin typeface="Calibri" pitchFamily="34" charset="0"/>
                <a:ea typeface="Calibri" pitchFamily="34" charset="-122"/>
                <a:cs typeface="Calibri" pitchFamily="34" charset="-120"/>
              </a:rPr>
              <a:t>Scalable structure suitable for further enhancement</a:t>
            </a:r>
            <a:endParaRPr lang="en-US" sz="1867" dirty="0"/>
          </a:p>
        </p:txBody>
      </p:sp>
      <p:sp>
        <p:nvSpPr>
          <p:cNvPr id="8" name="Shape 6"/>
          <p:cNvSpPr/>
          <p:nvPr/>
        </p:nvSpPr>
        <p:spPr>
          <a:xfrm>
            <a:off x="2438400" y="5608320"/>
            <a:ext cx="7315200" cy="853440"/>
          </a:xfrm>
          <a:prstGeom prst="roundRect">
            <a:avLst>
              <a:gd name="adj" fmla="val 8571"/>
            </a:avLst>
          </a:prstGeom>
          <a:solidFill>
            <a:srgbClr val="C49A2A"/>
          </a:solidFill>
          <a:ln w="12700">
            <a:solidFill>
              <a:srgbClr val="C49A2A"/>
            </a:solidFill>
            <a:prstDash val="solid"/>
          </a:ln>
        </p:spPr>
      </p:sp>
      <p:sp>
        <p:nvSpPr>
          <p:cNvPr id="9" name="Text 7"/>
          <p:cNvSpPr/>
          <p:nvPr/>
        </p:nvSpPr>
        <p:spPr>
          <a:xfrm>
            <a:off x="2438400" y="5608320"/>
            <a:ext cx="7315200" cy="853440"/>
          </a:xfrm>
          <a:prstGeom prst="rect">
            <a:avLst/>
          </a:prstGeom>
          <a:noFill/>
          <a:ln/>
        </p:spPr>
        <p:txBody>
          <a:bodyPr wrap="square" rtlCol="0" anchor="ctr"/>
          <a:lstStyle/>
          <a:p>
            <a:pPr algn="ctr"/>
            <a:r>
              <a:rPr lang="en-US" sz="1867" b="1" dirty="0">
                <a:solidFill>
                  <a:srgbClr val="1B2A4A"/>
                </a:solidFill>
                <a:latin typeface="Cambria" pitchFamily="34" charset="0"/>
                <a:ea typeface="Cambria" pitchFamily="34" charset="-122"/>
                <a:cs typeface="Cambria" pitchFamily="34" charset="-120"/>
              </a:rPr>
              <a:t>Thank You — CADD Multi-Speciality Hospital</a:t>
            </a:r>
            <a:endParaRPr lang="en-US" sz="1867"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728EAF-69D3-13F7-6786-8855D1A5B78D}"/>
              </a:ext>
            </a:extLst>
          </p:cNvPr>
          <p:cNvSpPr txBox="1"/>
          <p:nvPr/>
        </p:nvSpPr>
        <p:spPr>
          <a:xfrm>
            <a:off x="3411793" y="2828835"/>
            <a:ext cx="4583306" cy="1200329"/>
          </a:xfrm>
          <a:prstGeom prst="rect">
            <a:avLst/>
          </a:prstGeom>
          <a:noFill/>
        </p:spPr>
        <p:txBody>
          <a:bodyPr wrap="none" rtlCol="0">
            <a:spAutoFit/>
          </a:bodyPr>
          <a:lstStyle/>
          <a:p>
            <a:r>
              <a:rPr lang="en-US" sz="7200" dirty="0">
                <a:solidFill>
                  <a:srgbClr val="FFC000"/>
                </a:solidFill>
                <a:latin typeface="Aparajita" panose="02020603050405020304" pitchFamily="18" charset="0"/>
                <a:cs typeface="Aparajita" panose="02020603050405020304" pitchFamily="18" charset="0"/>
              </a:rPr>
              <a:t>THANK YOU</a:t>
            </a:r>
            <a:endParaRPr lang="en-IN" sz="7200" dirty="0">
              <a:solidFill>
                <a:srgbClr val="FFC000"/>
              </a:solidFill>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986459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715</TotalTime>
  <Words>684</Words>
  <Application>Microsoft Office PowerPoint</Application>
  <PresentationFormat>Widescreen</PresentationFormat>
  <Paragraphs>175</Paragraphs>
  <Slides>26</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Algerian</vt:lpstr>
      <vt:lpstr>Aparajita</vt:lpstr>
      <vt:lpstr>Aptos</vt:lpstr>
      <vt:lpstr>Aptos Display</vt:lpstr>
      <vt:lpstr>Arial</vt:lpstr>
      <vt:lpstr>Calibri</vt:lpstr>
      <vt:lpstr>Cambria</vt:lpstr>
      <vt:lpstr>Courier New</vt:lpstr>
      <vt:lpstr>Office Theme</vt:lpstr>
      <vt:lpstr>WELCOME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Sowmyashrie S</dc:creator>
  <cp:lastModifiedBy>Sowmyashrie S</cp:lastModifiedBy>
  <cp:revision>5</cp:revision>
  <dcterms:created xsi:type="dcterms:W3CDTF">2026-06-26T05:44:36Z</dcterms:created>
  <dcterms:modified xsi:type="dcterms:W3CDTF">2026-07-02T05:37:24Z</dcterms:modified>
</cp:coreProperties>
</file>